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4">
  <p:sldMasterIdLst>
    <p:sldMasterId id="2147483648" r:id="rId1"/>
  </p:sldMasterIdLst>
  <p:notesMasterIdLst>
    <p:notesMasterId r:id="rId19"/>
  </p:notesMasterIdLst>
  <p:handoutMasterIdLst>
    <p:handoutMasterId r:id="rId20"/>
  </p:handoutMasterIdLst>
  <p:sldIdLst>
    <p:sldId id="256" r:id="rId2"/>
    <p:sldId id="693" r:id="rId3"/>
    <p:sldId id="695" r:id="rId4"/>
    <p:sldId id="696" r:id="rId5"/>
    <p:sldId id="697" r:id="rId6"/>
    <p:sldId id="699" r:id="rId7"/>
    <p:sldId id="700" r:id="rId8"/>
    <p:sldId id="701" r:id="rId9"/>
    <p:sldId id="702" r:id="rId10"/>
    <p:sldId id="703" r:id="rId11"/>
    <p:sldId id="704" r:id="rId12"/>
    <p:sldId id="705" r:id="rId13"/>
    <p:sldId id="706" r:id="rId14"/>
    <p:sldId id="707" r:id="rId15"/>
    <p:sldId id="708" r:id="rId16"/>
    <p:sldId id="709" r:id="rId17"/>
    <p:sldId id="698" r:id="rId18"/>
  </p:sldIdLst>
  <p:sldSz cx="9144000" cy="6858000" type="screen4x3"/>
  <p:notesSz cx="7053263"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97C"/>
    <a:srgbClr val="CFA54F"/>
    <a:srgbClr val="00A84C"/>
    <a:srgbClr val="7E0000"/>
    <a:srgbClr val="F9F9F9"/>
    <a:srgbClr val="272779"/>
    <a:srgbClr val="F1EEF8"/>
    <a:srgbClr val="010066"/>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04" autoAdjust="0"/>
    <p:restoredTop sz="89866" autoAdjust="0"/>
  </p:normalViewPr>
  <p:slideViewPr>
    <p:cSldViewPr>
      <p:cViewPr varScale="1">
        <p:scale>
          <a:sx n="67" d="100"/>
          <a:sy n="67" d="100"/>
        </p:scale>
        <p:origin x="1104" y="6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sz="quarter" idx="1"/>
          </p:nvPr>
        </p:nvSpPr>
        <p:spPr>
          <a:xfrm>
            <a:off x="3995217" y="0"/>
            <a:ext cx="3056414" cy="467072"/>
          </a:xfrm>
          <a:prstGeom prst="rect">
            <a:avLst/>
          </a:prstGeom>
        </p:spPr>
        <p:txBody>
          <a:bodyPr vert="horz" lIns="93497" tIns="46749" rIns="93497" bIns="46749" rtlCol="0"/>
          <a:lstStyle>
            <a:lvl1pPr algn="r">
              <a:defRPr sz="1200"/>
            </a:lvl1pPr>
          </a:lstStyle>
          <a:p>
            <a:fld id="{9F280679-F78D-4563-AB09-2882E53889E2}" type="datetimeFigureOut">
              <a:rPr lang="en-US" smtClean="0"/>
              <a:t>6/20/2024</a:t>
            </a:fld>
            <a:endParaRPr lang="en-US"/>
          </a:p>
        </p:txBody>
      </p:sp>
      <p:sp>
        <p:nvSpPr>
          <p:cNvPr id="4" name="Footer Placeholder 3"/>
          <p:cNvSpPr>
            <a:spLocks noGrp="1"/>
          </p:cNvSpPr>
          <p:nvPr>
            <p:ph type="ftr" sz="quarter" idx="2"/>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5" name="Slide Number Placeholder 4"/>
          <p:cNvSpPr>
            <a:spLocks noGrp="1"/>
          </p:cNvSpPr>
          <p:nvPr>
            <p:ph type="sldNum" sz="quarter" idx="3"/>
          </p:nvPr>
        </p:nvSpPr>
        <p:spPr>
          <a:xfrm>
            <a:off x="3995217" y="8842030"/>
            <a:ext cx="3056414" cy="467071"/>
          </a:xfrm>
          <a:prstGeom prst="rect">
            <a:avLst/>
          </a:prstGeom>
        </p:spPr>
        <p:txBody>
          <a:bodyPr vert="horz" lIns="93497" tIns="46749" rIns="93497" bIns="46749" rtlCol="0" anchor="b"/>
          <a:lstStyle>
            <a:lvl1pPr algn="r">
              <a:defRPr sz="1200"/>
            </a:lvl1pPr>
          </a:lstStyle>
          <a:p>
            <a:fld id="{3D5AD14B-BEC4-47AA-BE94-1BE9653867FB}" type="slidenum">
              <a:rPr lang="en-US" smtClean="0"/>
              <a:t>‹#›</a:t>
            </a:fld>
            <a:endParaRPr lang="en-US"/>
          </a:p>
        </p:txBody>
      </p:sp>
    </p:spTree>
    <p:extLst>
      <p:ext uri="{BB962C8B-B14F-4D97-AF65-F5344CB8AC3E}">
        <p14:creationId xmlns:p14="http://schemas.microsoft.com/office/powerpoint/2010/main" val="23251355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3995217" y="0"/>
            <a:ext cx="3056414" cy="467072"/>
          </a:xfrm>
          <a:prstGeom prst="rect">
            <a:avLst/>
          </a:prstGeom>
        </p:spPr>
        <p:txBody>
          <a:bodyPr vert="horz" lIns="93497" tIns="46749" rIns="93497" bIns="46749" rtlCol="0"/>
          <a:lstStyle>
            <a:lvl1pPr algn="r">
              <a:defRPr sz="1200"/>
            </a:lvl1pPr>
          </a:lstStyle>
          <a:p>
            <a:fld id="{0D3B5A0F-EE2D-44AE-AAEF-8734B8682A4C}" type="datetimeFigureOut">
              <a:rPr lang="en-US" smtClean="0"/>
              <a:t>6/20/2024</a:t>
            </a:fld>
            <a:endParaRPr lang="en-US"/>
          </a:p>
        </p:txBody>
      </p:sp>
      <p:sp>
        <p:nvSpPr>
          <p:cNvPr id="4" name="Slide Image Placeholder 3"/>
          <p:cNvSpPr>
            <a:spLocks noGrp="1" noRot="1" noChangeAspect="1"/>
          </p:cNvSpPr>
          <p:nvPr>
            <p:ph type="sldImg" idx="2"/>
          </p:nvPr>
        </p:nvSpPr>
        <p:spPr>
          <a:xfrm>
            <a:off x="1431925" y="1163638"/>
            <a:ext cx="4189413" cy="3141662"/>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80004"/>
            <a:ext cx="5642610" cy="3665458"/>
          </a:xfrm>
          <a:prstGeom prst="rect">
            <a:avLst/>
          </a:prstGeom>
        </p:spPr>
        <p:txBody>
          <a:bodyPr vert="horz" lIns="93497" tIns="46749" rIns="93497" bIns="467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30"/>
            <a:ext cx="3056414" cy="467071"/>
          </a:xfrm>
          <a:prstGeom prst="rect">
            <a:avLst/>
          </a:prstGeom>
        </p:spPr>
        <p:txBody>
          <a:bodyPr vert="horz" lIns="93497" tIns="46749" rIns="93497" bIns="46749" rtlCol="0" anchor="b"/>
          <a:lstStyle>
            <a:lvl1pPr algn="r">
              <a:defRPr sz="1200"/>
            </a:lvl1pPr>
          </a:lstStyle>
          <a:p>
            <a:fld id="{02819FA7-2E62-436E-8162-3D387ECEE5BC}" type="slidenum">
              <a:rPr lang="en-US" smtClean="0"/>
              <a:t>‹#›</a:t>
            </a:fld>
            <a:endParaRPr lang="en-US"/>
          </a:p>
        </p:txBody>
      </p:sp>
    </p:spTree>
    <p:extLst>
      <p:ext uri="{BB962C8B-B14F-4D97-AF65-F5344CB8AC3E}">
        <p14:creationId xmlns:p14="http://schemas.microsoft.com/office/powerpoint/2010/main" val="3602256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819FA7-2E62-436E-8162-3D387ECEE5BC}" type="slidenum">
              <a:rPr lang="en-US" smtClean="0"/>
              <a:t>1</a:t>
            </a:fld>
            <a:endParaRPr lang="en-US"/>
          </a:p>
        </p:txBody>
      </p:sp>
    </p:spTree>
    <p:extLst>
      <p:ext uri="{BB962C8B-B14F-4D97-AF65-F5344CB8AC3E}">
        <p14:creationId xmlns:p14="http://schemas.microsoft.com/office/powerpoint/2010/main" val="4170559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2</a:t>
            </a:fld>
            <a:endParaRPr lang="en-US"/>
          </a:p>
        </p:txBody>
      </p:sp>
    </p:spTree>
    <p:extLst>
      <p:ext uri="{BB962C8B-B14F-4D97-AF65-F5344CB8AC3E}">
        <p14:creationId xmlns:p14="http://schemas.microsoft.com/office/powerpoint/2010/main" val="2119141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3</a:t>
            </a:fld>
            <a:endParaRPr lang="en-US"/>
          </a:p>
        </p:txBody>
      </p:sp>
    </p:spTree>
    <p:extLst>
      <p:ext uri="{BB962C8B-B14F-4D97-AF65-F5344CB8AC3E}">
        <p14:creationId xmlns:p14="http://schemas.microsoft.com/office/powerpoint/2010/main" val="1910099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4</a:t>
            </a:fld>
            <a:endParaRPr lang="en-US"/>
          </a:p>
        </p:txBody>
      </p:sp>
    </p:spTree>
    <p:extLst>
      <p:ext uri="{BB962C8B-B14F-4D97-AF65-F5344CB8AC3E}">
        <p14:creationId xmlns:p14="http://schemas.microsoft.com/office/powerpoint/2010/main" val="15194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5</a:t>
            </a:fld>
            <a:endParaRPr lang="en-US"/>
          </a:p>
        </p:txBody>
      </p:sp>
    </p:spTree>
    <p:extLst>
      <p:ext uri="{BB962C8B-B14F-4D97-AF65-F5344CB8AC3E}">
        <p14:creationId xmlns:p14="http://schemas.microsoft.com/office/powerpoint/2010/main" val="2025670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6</a:t>
            </a:fld>
            <a:endParaRPr lang="en-US"/>
          </a:p>
        </p:txBody>
      </p:sp>
    </p:spTree>
    <p:extLst>
      <p:ext uri="{BB962C8B-B14F-4D97-AF65-F5344CB8AC3E}">
        <p14:creationId xmlns:p14="http://schemas.microsoft.com/office/powerpoint/2010/main" val="1068253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7</a:t>
            </a:fld>
            <a:endParaRPr lang="en-US"/>
          </a:p>
        </p:txBody>
      </p:sp>
    </p:spTree>
    <p:extLst>
      <p:ext uri="{BB962C8B-B14F-4D97-AF65-F5344CB8AC3E}">
        <p14:creationId xmlns:p14="http://schemas.microsoft.com/office/powerpoint/2010/main" val="1622562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8</a:t>
            </a:fld>
            <a:endParaRPr lang="en-US"/>
          </a:p>
        </p:txBody>
      </p:sp>
    </p:spTree>
    <p:extLst>
      <p:ext uri="{BB962C8B-B14F-4D97-AF65-F5344CB8AC3E}">
        <p14:creationId xmlns:p14="http://schemas.microsoft.com/office/powerpoint/2010/main" val="347366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9</a:t>
            </a:fld>
            <a:endParaRPr lang="en-US"/>
          </a:p>
        </p:txBody>
      </p:sp>
    </p:spTree>
    <p:extLst>
      <p:ext uri="{BB962C8B-B14F-4D97-AF65-F5344CB8AC3E}">
        <p14:creationId xmlns:p14="http://schemas.microsoft.com/office/powerpoint/2010/main" val="4127636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10</a:t>
            </a:fld>
            <a:endParaRPr lang="en-US"/>
          </a:p>
        </p:txBody>
      </p:sp>
    </p:spTree>
    <p:extLst>
      <p:ext uri="{BB962C8B-B14F-4D97-AF65-F5344CB8AC3E}">
        <p14:creationId xmlns:p14="http://schemas.microsoft.com/office/powerpoint/2010/main" val="436424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11</a:t>
            </a:fld>
            <a:endParaRPr lang="en-US"/>
          </a:p>
        </p:txBody>
      </p:sp>
    </p:spTree>
    <p:extLst>
      <p:ext uri="{BB962C8B-B14F-4D97-AF65-F5344CB8AC3E}">
        <p14:creationId xmlns:p14="http://schemas.microsoft.com/office/powerpoint/2010/main" val="2968739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12</a:t>
            </a:fld>
            <a:endParaRPr lang="en-US"/>
          </a:p>
        </p:txBody>
      </p:sp>
    </p:spTree>
    <p:extLst>
      <p:ext uri="{BB962C8B-B14F-4D97-AF65-F5344CB8AC3E}">
        <p14:creationId xmlns:p14="http://schemas.microsoft.com/office/powerpoint/2010/main" val="3351803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13</a:t>
            </a:fld>
            <a:endParaRPr lang="en-US"/>
          </a:p>
        </p:txBody>
      </p:sp>
    </p:spTree>
    <p:extLst>
      <p:ext uri="{BB962C8B-B14F-4D97-AF65-F5344CB8AC3E}">
        <p14:creationId xmlns:p14="http://schemas.microsoft.com/office/powerpoint/2010/main" val="2930125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14</a:t>
            </a:fld>
            <a:endParaRPr lang="en-US"/>
          </a:p>
        </p:txBody>
      </p:sp>
    </p:spTree>
    <p:extLst>
      <p:ext uri="{BB962C8B-B14F-4D97-AF65-F5344CB8AC3E}">
        <p14:creationId xmlns:p14="http://schemas.microsoft.com/office/powerpoint/2010/main" val="2002929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15</a:t>
            </a:fld>
            <a:endParaRPr lang="en-US"/>
          </a:p>
        </p:txBody>
      </p:sp>
    </p:spTree>
    <p:extLst>
      <p:ext uri="{BB962C8B-B14F-4D97-AF65-F5344CB8AC3E}">
        <p14:creationId xmlns:p14="http://schemas.microsoft.com/office/powerpoint/2010/main" val="831883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16</a:t>
            </a:fld>
            <a:endParaRPr lang="en-US"/>
          </a:p>
        </p:txBody>
      </p:sp>
    </p:spTree>
    <p:extLst>
      <p:ext uri="{BB962C8B-B14F-4D97-AF65-F5344CB8AC3E}">
        <p14:creationId xmlns:p14="http://schemas.microsoft.com/office/powerpoint/2010/main" val="8527159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819FA7-2E62-436E-8162-3D387ECEE5BC}" type="slidenum">
              <a:rPr lang="en-US" smtClean="0"/>
              <a:t>17</a:t>
            </a:fld>
            <a:endParaRPr lang="en-US"/>
          </a:p>
        </p:txBody>
      </p:sp>
    </p:spTree>
    <p:extLst>
      <p:ext uri="{BB962C8B-B14F-4D97-AF65-F5344CB8AC3E}">
        <p14:creationId xmlns:p14="http://schemas.microsoft.com/office/powerpoint/2010/main" val="3326550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0" name="object 14"/>
          <p:cNvSpPr/>
          <p:nvPr userDrawn="1"/>
        </p:nvSpPr>
        <p:spPr>
          <a:xfrm>
            <a:off x="0" y="4572000"/>
            <a:ext cx="9144000" cy="304800"/>
          </a:xfrm>
          <a:custGeom>
            <a:avLst/>
            <a:gdLst/>
            <a:ahLst/>
            <a:cxnLst/>
            <a:rect l="l" t="t" r="r" b="b"/>
            <a:pathLst>
              <a:path w="10692000" h="104377">
                <a:moveTo>
                  <a:pt x="0" y="104377"/>
                </a:moveTo>
                <a:lnTo>
                  <a:pt x="10692000" y="104377"/>
                </a:lnTo>
                <a:lnTo>
                  <a:pt x="10692000" y="0"/>
                </a:lnTo>
                <a:lnTo>
                  <a:pt x="0" y="0"/>
                </a:lnTo>
                <a:lnTo>
                  <a:pt x="0" y="104377"/>
                </a:lnTo>
                <a:close/>
              </a:path>
            </a:pathLst>
          </a:custGeom>
          <a:solidFill>
            <a:srgbClr val="CFA54F"/>
          </a:solidFill>
        </p:spPr>
        <p:txBody>
          <a:bodyPr wrap="square" lIns="0" tIns="0" rIns="0" bIns="0" rtlCol="0">
            <a:noAutofit/>
          </a:bodyPr>
          <a:lstStyle/>
          <a:p>
            <a:endParaRPr/>
          </a:p>
        </p:txBody>
      </p:sp>
      <p:sp>
        <p:nvSpPr>
          <p:cNvPr id="9" name="Rectangle 8"/>
          <p:cNvSpPr/>
          <p:nvPr userDrawn="1"/>
        </p:nvSpPr>
        <p:spPr>
          <a:xfrm>
            <a:off x="0" y="-32705"/>
            <a:ext cx="9144001" cy="4604705"/>
          </a:xfrm>
          <a:prstGeom prst="rect">
            <a:avLst/>
          </a:prstGeom>
          <a:solidFill>
            <a:srgbClr val="2729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200" y="685800"/>
            <a:ext cx="7772400" cy="1470025"/>
          </a:xfrm>
        </p:spPr>
        <p:txBody>
          <a:bodyPr/>
          <a:lstStyle>
            <a:lvl1pPr>
              <a:defRPr b="1">
                <a:latin typeface="+mj-lt"/>
              </a:defRPr>
            </a:lvl1pPr>
          </a:lstStyle>
          <a:p>
            <a:r>
              <a:rPr lang="en-US" dirty="0"/>
              <a:t>Click to edit Master title style</a:t>
            </a:r>
          </a:p>
        </p:txBody>
      </p:sp>
      <p:sp>
        <p:nvSpPr>
          <p:cNvPr id="3" name="Subtitle 2"/>
          <p:cNvSpPr>
            <a:spLocks noGrp="1"/>
          </p:cNvSpPr>
          <p:nvPr>
            <p:ph type="subTitle" idx="1"/>
          </p:nvPr>
        </p:nvSpPr>
        <p:spPr>
          <a:xfrm>
            <a:off x="1524000" y="2971800"/>
            <a:ext cx="6400800" cy="897039"/>
          </a:xfrm>
        </p:spPr>
        <p:txBody>
          <a:bodyPr/>
          <a:lstStyle>
            <a:lvl1pPr marL="0" indent="0" algn="ctr">
              <a:buNone/>
              <a:defRPr b="0">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097770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00"/>
            <a:ext cx="8229600" cy="1032605"/>
          </a:xfrm>
        </p:spPr>
        <p:txBody>
          <a:bodyPr/>
          <a:lstStyle/>
          <a:p>
            <a:r>
              <a:rPr lang="en-US" dirty="0"/>
              <a:t>Click to edit Master title style</a:t>
            </a:r>
          </a:p>
        </p:txBody>
      </p:sp>
      <p:sp>
        <p:nvSpPr>
          <p:cNvPr id="3" name="Content Placeholder 2"/>
          <p:cNvSpPr>
            <a:spLocks noGrp="1"/>
          </p:cNvSpPr>
          <p:nvPr>
            <p:ph idx="1"/>
          </p:nvPr>
        </p:nvSpPr>
        <p:spPr/>
        <p:txBody>
          <a:bodyPr/>
          <a:lstStyle>
            <a:lvl1pPr>
              <a:defRPr sz="2400">
                <a:solidFill>
                  <a:srgbClr val="272779"/>
                </a:solidFill>
              </a:defRPr>
            </a:lvl1pPr>
            <a:lvl2pPr>
              <a:defRPr sz="2200">
                <a:solidFill>
                  <a:srgbClr val="272779"/>
                </a:solidFill>
              </a:defRPr>
            </a:lvl2pPr>
            <a:lvl3pPr>
              <a:defRPr sz="2000">
                <a:solidFill>
                  <a:srgbClr val="272779"/>
                </a:solidFill>
              </a:defRPr>
            </a:lvl3pPr>
            <a:lvl4pPr>
              <a:defRPr>
                <a:solidFill>
                  <a:srgbClr val="272779"/>
                </a:solidFill>
              </a:defRPr>
            </a:lvl4pPr>
            <a:lvl5pPr>
              <a:defRPr>
                <a:solidFill>
                  <a:srgbClr val="272779"/>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FD8405C-0E17-480B-B2CC-FF5D8B177DC3}" type="datetime1">
              <a:rPr lang="en-US" smtClean="0"/>
              <a:t>6/20/2024</a:t>
            </a:fld>
            <a:endParaRPr lang="en-US"/>
          </a:p>
        </p:txBody>
      </p:sp>
      <p:sp>
        <p:nvSpPr>
          <p:cNvPr id="5" name="Footer Placeholder 4"/>
          <p:cNvSpPr>
            <a:spLocks noGrp="1"/>
          </p:cNvSpPr>
          <p:nvPr>
            <p:ph type="ftr" sz="quarter" idx="11"/>
          </p:nvPr>
        </p:nvSpPr>
        <p:spPr/>
        <p:txBody>
          <a:bodyPr/>
          <a:lstStyle>
            <a:lvl1pPr>
              <a:defRPr lang="en-US" sz="1100" smtClean="0">
                <a:effectLst/>
              </a:defRPr>
            </a:lvl1pPr>
          </a:lstStyle>
          <a:p>
            <a:r>
              <a:rPr lang="en-US"/>
              <a:t>Introduction to Computing</a:t>
            </a:r>
            <a:endParaRPr lang="en-US" dirty="0"/>
          </a:p>
        </p:txBody>
      </p:sp>
      <p:sp>
        <p:nvSpPr>
          <p:cNvPr id="6" name="Slide Number Placeholder 5"/>
          <p:cNvSpPr>
            <a:spLocks noGrp="1"/>
          </p:cNvSpPr>
          <p:nvPr>
            <p:ph type="sldNum" sz="quarter" idx="12"/>
          </p:nvPr>
        </p:nvSpPr>
        <p:spPr/>
        <p:txBody>
          <a:bodyPr/>
          <a:lstStyle/>
          <a:p>
            <a:fld id="{FD3DDBF2-094B-4CA4-965C-FB22D307DBD7}" type="slidenum">
              <a:rPr lang="en-US" smtClean="0"/>
              <a:pPr/>
              <a:t>‹#›</a:t>
            </a:fld>
            <a:endParaRPr lang="en-US"/>
          </a:p>
        </p:txBody>
      </p:sp>
    </p:spTree>
    <p:extLst>
      <p:ext uri="{BB962C8B-B14F-4D97-AF65-F5344CB8AC3E}">
        <p14:creationId xmlns:p14="http://schemas.microsoft.com/office/powerpoint/2010/main" val="335705389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0" y="-32705"/>
            <a:ext cx="9144001" cy="5866577"/>
          </a:xfrm>
          <a:prstGeom prst="rect">
            <a:avLst/>
          </a:prstGeom>
          <a:solidFill>
            <a:srgbClr val="2729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2313" y="4014787"/>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514600"/>
            <a:ext cx="7772400" cy="1500187"/>
          </a:xfrm>
        </p:spPr>
        <p:txBody>
          <a:bodyPr anchor="b"/>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5461C9A5-0A8B-4424-86B8-491B77B4E25B}" type="datetime1">
              <a:rPr lang="en-US" smtClean="0"/>
              <a:t>6/20/2024</a:t>
            </a:fld>
            <a:endParaRPr lang="en-US"/>
          </a:p>
        </p:txBody>
      </p:sp>
      <p:sp>
        <p:nvSpPr>
          <p:cNvPr id="5" name="Footer Placeholder 4"/>
          <p:cNvSpPr>
            <a:spLocks noGrp="1"/>
          </p:cNvSpPr>
          <p:nvPr>
            <p:ph type="ftr" sz="quarter" idx="11"/>
          </p:nvPr>
        </p:nvSpPr>
        <p:spPr/>
        <p:txBody>
          <a:bodyPr/>
          <a:lstStyle>
            <a:lvl1pPr>
              <a:defRPr/>
            </a:lvl1pPr>
          </a:lstStyle>
          <a:p>
            <a:r>
              <a:rPr lang="en-US"/>
              <a:t>Introduction to Computing</a:t>
            </a:r>
            <a:endParaRPr lang="en-US" dirty="0"/>
          </a:p>
        </p:txBody>
      </p:sp>
      <p:sp>
        <p:nvSpPr>
          <p:cNvPr id="6" name="Slide Number Placeholder 5"/>
          <p:cNvSpPr>
            <a:spLocks noGrp="1"/>
          </p:cNvSpPr>
          <p:nvPr>
            <p:ph type="sldNum" sz="quarter" idx="12"/>
          </p:nvPr>
        </p:nvSpPr>
        <p:spPr/>
        <p:txBody>
          <a:bodyPr/>
          <a:lstStyle/>
          <a:p>
            <a:fld id="{FD3DDBF2-094B-4CA4-965C-FB22D307DBD7}" type="slidenum">
              <a:rPr lang="en-US" smtClean="0"/>
              <a:pPr/>
              <a:t>‹#›</a:t>
            </a:fld>
            <a:endParaRPr lang="en-US"/>
          </a:p>
        </p:txBody>
      </p:sp>
      <p:sp>
        <p:nvSpPr>
          <p:cNvPr id="8" name="object 14"/>
          <p:cNvSpPr/>
          <p:nvPr userDrawn="1"/>
        </p:nvSpPr>
        <p:spPr>
          <a:xfrm>
            <a:off x="-8108" y="5833872"/>
            <a:ext cx="9152107" cy="109728"/>
          </a:xfrm>
          <a:custGeom>
            <a:avLst/>
            <a:gdLst/>
            <a:ahLst/>
            <a:cxnLst/>
            <a:rect l="l" t="t" r="r" b="b"/>
            <a:pathLst>
              <a:path w="10692000" h="104377">
                <a:moveTo>
                  <a:pt x="0" y="104377"/>
                </a:moveTo>
                <a:lnTo>
                  <a:pt x="10692000" y="104377"/>
                </a:lnTo>
                <a:lnTo>
                  <a:pt x="10692000" y="0"/>
                </a:lnTo>
                <a:lnTo>
                  <a:pt x="0" y="0"/>
                </a:lnTo>
                <a:lnTo>
                  <a:pt x="0" y="104377"/>
                </a:lnTo>
                <a:close/>
              </a:path>
            </a:pathLst>
          </a:custGeom>
          <a:solidFill>
            <a:srgbClr val="CFA54F"/>
          </a:solidFill>
        </p:spPr>
        <p:txBody>
          <a:bodyPr wrap="square" lIns="0" tIns="0" rIns="0" bIns="0" rtlCol="0">
            <a:noAutofit/>
          </a:bodyPr>
          <a:lstStyle/>
          <a:p>
            <a:endParaRPr/>
          </a:p>
        </p:txBody>
      </p:sp>
    </p:spTree>
    <p:extLst>
      <p:ext uri="{BB962C8B-B14F-4D97-AF65-F5344CB8AC3E}">
        <p14:creationId xmlns:p14="http://schemas.microsoft.com/office/powerpoint/2010/main" val="4122196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9BB7BB-3DF6-43BE-AC8C-4FD7B250F5AC}" type="datetime1">
              <a:rPr lang="en-US" smtClean="0"/>
              <a:t>6/20/2024</a:t>
            </a:fld>
            <a:endParaRPr lang="en-US" dirty="0"/>
          </a:p>
        </p:txBody>
      </p:sp>
      <p:sp>
        <p:nvSpPr>
          <p:cNvPr id="6" name="Footer Placeholder 5"/>
          <p:cNvSpPr>
            <a:spLocks noGrp="1"/>
          </p:cNvSpPr>
          <p:nvPr>
            <p:ph type="ftr" sz="quarter" idx="11"/>
          </p:nvPr>
        </p:nvSpPr>
        <p:spPr/>
        <p:txBody>
          <a:bodyPr/>
          <a:lstStyle>
            <a:lvl1pPr>
              <a:defRPr/>
            </a:lvl1pPr>
          </a:lstStyle>
          <a:p>
            <a:r>
              <a:rPr lang="en-US"/>
              <a:t>Introduction to Computing</a:t>
            </a:r>
            <a:endParaRPr lang="en-US" dirty="0"/>
          </a:p>
        </p:txBody>
      </p:sp>
      <p:sp>
        <p:nvSpPr>
          <p:cNvPr id="7" name="Slide Number Placeholder 6"/>
          <p:cNvSpPr>
            <a:spLocks noGrp="1"/>
          </p:cNvSpPr>
          <p:nvPr>
            <p:ph type="sldNum" sz="quarter" idx="12"/>
          </p:nvPr>
        </p:nvSpPr>
        <p:spPr/>
        <p:txBody>
          <a:bodyPr/>
          <a:lstStyle/>
          <a:p>
            <a:fld id="{FD3DDBF2-094B-4CA4-965C-FB22D307DBD7}" type="slidenum">
              <a:rPr lang="en-US" smtClean="0"/>
              <a:pPr/>
              <a:t>‹#›</a:t>
            </a:fld>
            <a:endParaRPr lang="en-US"/>
          </a:p>
        </p:txBody>
      </p:sp>
    </p:spTree>
    <p:extLst>
      <p:ext uri="{BB962C8B-B14F-4D97-AF65-F5344CB8AC3E}">
        <p14:creationId xmlns:p14="http://schemas.microsoft.com/office/powerpoint/2010/main" val="1140529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E30C00-A2D6-4D4D-8D3B-F1880955D386}" type="datetime1">
              <a:rPr lang="en-US" smtClean="0"/>
              <a:t>6/20/2024</a:t>
            </a:fld>
            <a:endParaRPr lang="en-US"/>
          </a:p>
        </p:txBody>
      </p:sp>
      <p:sp>
        <p:nvSpPr>
          <p:cNvPr id="8" name="Footer Placeholder 7"/>
          <p:cNvSpPr>
            <a:spLocks noGrp="1"/>
          </p:cNvSpPr>
          <p:nvPr>
            <p:ph type="ftr" sz="quarter" idx="11"/>
          </p:nvPr>
        </p:nvSpPr>
        <p:spPr/>
        <p:txBody>
          <a:bodyPr/>
          <a:lstStyle>
            <a:lvl1pPr>
              <a:defRPr/>
            </a:lvl1pPr>
          </a:lstStyle>
          <a:p>
            <a:r>
              <a:rPr lang="en-US"/>
              <a:t>Introduction to Computing</a:t>
            </a:r>
            <a:endParaRPr lang="en-US" dirty="0"/>
          </a:p>
        </p:txBody>
      </p:sp>
      <p:sp>
        <p:nvSpPr>
          <p:cNvPr id="9" name="Slide Number Placeholder 8"/>
          <p:cNvSpPr>
            <a:spLocks noGrp="1"/>
          </p:cNvSpPr>
          <p:nvPr>
            <p:ph type="sldNum" sz="quarter" idx="12"/>
          </p:nvPr>
        </p:nvSpPr>
        <p:spPr/>
        <p:txBody>
          <a:bodyPr/>
          <a:lstStyle/>
          <a:p>
            <a:fld id="{FD3DDBF2-094B-4CA4-965C-FB22D307DBD7}" type="slidenum">
              <a:rPr lang="en-US" smtClean="0"/>
              <a:pPr/>
              <a:t>‹#›</a:t>
            </a:fld>
            <a:endParaRPr lang="en-US"/>
          </a:p>
        </p:txBody>
      </p:sp>
    </p:spTree>
    <p:extLst>
      <p:ext uri="{BB962C8B-B14F-4D97-AF65-F5344CB8AC3E}">
        <p14:creationId xmlns:p14="http://schemas.microsoft.com/office/powerpoint/2010/main" val="1618458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5494EF-9381-4704-B2C5-118AFDAE8691}" type="datetime1">
              <a:rPr lang="en-US" smtClean="0"/>
              <a:t>6/20/2024</a:t>
            </a:fld>
            <a:endParaRPr lang="en-US"/>
          </a:p>
        </p:txBody>
      </p:sp>
      <p:sp>
        <p:nvSpPr>
          <p:cNvPr id="5" name="Slide Number Placeholder 4"/>
          <p:cNvSpPr>
            <a:spLocks noGrp="1"/>
          </p:cNvSpPr>
          <p:nvPr>
            <p:ph type="sldNum" sz="quarter" idx="12"/>
          </p:nvPr>
        </p:nvSpPr>
        <p:spPr/>
        <p:txBody>
          <a:bodyPr/>
          <a:lstStyle/>
          <a:p>
            <a:fld id="{FD3DDBF2-094B-4CA4-965C-FB22D307DBD7}" type="slidenum">
              <a:rPr lang="en-US" smtClean="0"/>
              <a:pPr/>
              <a:t>‹#›</a:t>
            </a:fld>
            <a:endParaRPr lang="en-US"/>
          </a:p>
        </p:txBody>
      </p:sp>
      <p:sp>
        <p:nvSpPr>
          <p:cNvPr id="6" name="Footer Placeholder 2"/>
          <p:cNvSpPr>
            <a:spLocks noGrp="1"/>
          </p:cNvSpPr>
          <p:nvPr>
            <p:ph type="ftr" sz="quarter" idx="11"/>
          </p:nvPr>
        </p:nvSpPr>
        <p:spPr>
          <a:xfrm>
            <a:off x="457199" y="6356350"/>
            <a:ext cx="4191001" cy="365125"/>
          </a:xfrm>
        </p:spPr>
        <p:txBody>
          <a:bodyPr/>
          <a:lstStyle>
            <a:lvl1pPr algn="r">
              <a:defRPr lang="en-US" sz="1100" smtClean="0">
                <a:effectLst/>
              </a:defRPr>
            </a:lvl1pPr>
          </a:lstStyle>
          <a:p>
            <a:r>
              <a:rPr lang="en-US"/>
              <a:t>Introduction to Computing</a:t>
            </a:r>
            <a:endParaRPr lang="en-US" dirty="0"/>
          </a:p>
        </p:txBody>
      </p:sp>
    </p:spTree>
    <p:extLst>
      <p:ext uri="{BB962C8B-B14F-4D97-AF65-F5344CB8AC3E}">
        <p14:creationId xmlns:p14="http://schemas.microsoft.com/office/powerpoint/2010/main" val="86549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228192"/>
            <a:ext cx="9144001" cy="677882"/>
          </a:xfrm>
          <a:prstGeom prst="rect">
            <a:avLst/>
          </a:prstGeom>
          <a:solidFill>
            <a:srgbClr val="2729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8AA7A39A-CE18-4884-B1D3-BD4ED59BAAFA}" type="datetime1">
              <a:rPr lang="en-US" smtClean="0"/>
              <a:t>6/20/2024</a:t>
            </a:fld>
            <a:endParaRPr lang="en-US"/>
          </a:p>
        </p:txBody>
      </p:sp>
      <p:sp>
        <p:nvSpPr>
          <p:cNvPr id="3" name="Footer Placeholder 2"/>
          <p:cNvSpPr>
            <a:spLocks noGrp="1"/>
          </p:cNvSpPr>
          <p:nvPr>
            <p:ph type="ftr" sz="quarter" idx="11"/>
          </p:nvPr>
        </p:nvSpPr>
        <p:spPr/>
        <p:txBody>
          <a:bodyPr/>
          <a:lstStyle>
            <a:lvl1pPr algn="r">
              <a:defRPr lang="en-US" sz="1100" smtClean="0">
                <a:effectLst/>
              </a:defRPr>
            </a:lvl1pPr>
          </a:lstStyle>
          <a:p>
            <a:r>
              <a:rPr lang="en-US"/>
              <a:t>Introduction to Computing</a:t>
            </a:r>
            <a:endParaRPr lang="en-US" dirty="0"/>
          </a:p>
        </p:txBody>
      </p:sp>
      <p:sp>
        <p:nvSpPr>
          <p:cNvPr id="4" name="Slide Number Placeholder 3"/>
          <p:cNvSpPr>
            <a:spLocks noGrp="1"/>
          </p:cNvSpPr>
          <p:nvPr>
            <p:ph type="sldNum" sz="quarter" idx="12"/>
          </p:nvPr>
        </p:nvSpPr>
        <p:spPr/>
        <p:txBody>
          <a:bodyPr/>
          <a:lstStyle/>
          <a:p>
            <a:fld id="{FD3DDBF2-094B-4CA4-965C-FB22D307DBD7}" type="slidenum">
              <a:rPr lang="en-US" smtClean="0"/>
              <a:pPr/>
              <a:t>‹#›</a:t>
            </a:fld>
            <a:endParaRPr lang="en-US"/>
          </a:p>
        </p:txBody>
      </p:sp>
      <p:sp>
        <p:nvSpPr>
          <p:cNvPr id="5" name="Title Placeholder 1"/>
          <p:cNvSpPr>
            <a:spLocks noGrp="1"/>
          </p:cNvSpPr>
          <p:nvPr>
            <p:ph type="title"/>
          </p:nvPr>
        </p:nvSpPr>
        <p:spPr>
          <a:xfrm>
            <a:off x="457200" y="247832"/>
            <a:ext cx="8229600" cy="576992"/>
          </a:xfrm>
          <a:prstGeom prst="rect">
            <a:avLst/>
          </a:prstGeom>
        </p:spPr>
        <p:txBody>
          <a:bodyPr vert="horz" lIns="91440" tIns="45720" rIns="91440" bIns="45720" rtlCol="0" anchor="ctr">
            <a:normAutofit/>
          </a:bodyPr>
          <a:lstStyle>
            <a:lvl1pPr>
              <a:defRPr sz="3200"/>
            </a:lvl1pPr>
          </a:lstStyle>
          <a:p>
            <a:r>
              <a:rPr lang="en-US" dirty="0"/>
              <a:t>Click to edit Master title style</a:t>
            </a:r>
          </a:p>
        </p:txBody>
      </p:sp>
      <p:sp>
        <p:nvSpPr>
          <p:cNvPr id="7" name="object 14"/>
          <p:cNvSpPr/>
          <p:nvPr userDrawn="1"/>
        </p:nvSpPr>
        <p:spPr>
          <a:xfrm>
            <a:off x="0" y="868680"/>
            <a:ext cx="9144000" cy="45720"/>
          </a:xfrm>
          <a:custGeom>
            <a:avLst/>
            <a:gdLst/>
            <a:ahLst/>
            <a:cxnLst/>
            <a:rect l="l" t="t" r="r" b="b"/>
            <a:pathLst>
              <a:path w="10692000" h="104377">
                <a:moveTo>
                  <a:pt x="0" y="104377"/>
                </a:moveTo>
                <a:lnTo>
                  <a:pt x="10692000" y="104377"/>
                </a:lnTo>
                <a:lnTo>
                  <a:pt x="10692000" y="0"/>
                </a:lnTo>
                <a:lnTo>
                  <a:pt x="0" y="0"/>
                </a:lnTo>
                <a:lnTo>
                  <a:pt x="0" y="104377"/>
                </a:lnTo>
                <a:close/>
              </a:path>
            </a:pathLst>
          </a:custGeom>
          <a:solidFill>
            <a:srgbClr val="CFA54F"/>
          </a:solidFill>
        </p:spPr>
        <p:txBody>
          <a:bodyPr wrap="square" lIns="0" tIns="0" rIns="0" bIns="0" rtlCol="0">
            <a:noAutofit/>
          </a:bodyPr>
          <a:lstStyle/>
          <a:p>
            <a:endParaRPr/>
          </a:p>
        </p:txBody>
      </p:sp>
      <p:sp>
        <p:nvSpPr>
          <p:cNvPr id="10" name="Content Placeholder 2"/>
          <p:cNvSpPr>
            <a:spLocks noGrp="1"/>
          </p:cNvSpPr>
          <p:nvPr>
            <p:ph idx="1"/>
          </p:nvPr>
        </p:nvSpPr>
        <p:spPr>
          <a:xfrm>
            <a:off x="457200" y="958256"/>
            <a:ext cx="8229600" cy="5167907"/>
          </a:xfrm>
        </p:spPr>
        <p:txBody>
          <a:bodyPr/>
          <a:lstStyle>
            <a:lvl1pPr>
              <a:defRPr sz="2400">
                <a:solidFill>
                  <a:srgbClr val="272779"/>
                </a:solidFill>
              </a:defRPr>
            </a:lvl1pPr>
            <a:lvl2pPr>
              <a:defRPr sz="2200">
                <a:solidFill>
                  <a:srgbClr val="272779"/>
                </a:solidFill>
              </a:defRPr>
            </a:lvl2pPr>
            <a:lvl3pPr>
              <a:defRPr sz="2000">
                <a:solidFill>
                  <a:srgbClr val="272779"/>
                </a:solidFill>
              </a:defRPr>
            </a:lvl3pPr>
            <a:lvl4pPr>
              <a:defRPr>
                <a:solidFill>
                  <a:srgbClr val="272779"/>
                </a:solidFill>
              </a:defRPr>
            </a:lvl4pPr>
            <a:lvl5pPr>
              <a:defRPr>
                <a:solidFill>
                  <a:srgbClr val="272779"/>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54845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F30CB1-7715-40C3-A4A3-87C0518A1F5E}" type="datetime1">
              <a:rPr lang="en-US" smtClean="0"/>
              <a:t>6/20/2024</a:t>
            </a:fld>
            <a:endParaRPr lang="en-US"/>
          </a:p>
        </p:txBody>
      </p:sp>
      <p:sp>
        <p:nvSpPr>
          <p:cNvPr id="6" name="Footer Placeholder 5"/>
          <p:cNvSpPr>
            <a:spLocks noGrp="1"/>
          </p:cNvSpPr>
          <p:nvPr>
            <p:ph type="ftr" sz="quarter" idx="11"/>
          </p:nvPr>
        </p:nvSpPr>
        <p:spPr/>
        <p:txBody>
          <a:bodyPr/>
          <a:lstStyle>
            <a:lvl1pPr>
              <a:defRPr/>
            </a:lvl1pPr>
          </a:lstStyle>
          <a:p>
            <a:r>
              <a:rPr lang="en-US"/>
              <a:t>Introduction to Computing</a:t>
            </a:r>
            <a:endParaRPr lang="en-US" dirty="0"/>
          </a:p>
        </p:txBody>
      </p:sp>
      <p:sp>
        <p:nvSpPr>
          <p:cNvPr id="7" name="Slide Number Placeholder 6"/>
          <p:cNvSpPr>
            <a:spLocks noGrp="1"/>
          </p:cNvSpPr>
          <p:nvPr>
            <p:ph type="sldNum" sz="quarter" idx="12"/>
          </p:nvPr>
        </p:nvSpPr>
        <p:spPr/>
        <p:txBody>
          <a:bodyPr/>
          <a:lstStyle/>
          <a:p>
            <a:fld id="{FD3DDBF2-094B-4CA4-965C-FB22D307DBD7}" type="slidenum">
              <a:rPr lang="en-US" smtClean="0"/>
              <a:pPr/>
              <a:t>‹#›</a:t>
            </a:fld>
            <a:endParaRPr lang="en-US"/>
          </a:p>
        </p:txBody>
      </p:sp>
    </p:spTree>
    <p:extLst>
      <p:ext uri="{BB962C8B-B14F-4D97-AF65-F5344CB8AC3E}">
        <p14:creationId xmlns:p14="http://schemas.microsoft.com/office/powerpoint/2010/main" val="1320546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38E32E-C647-4DC9-A471-C87590E89018}" type="datetime1">
              <a:rPr lang="en-US" smtClean="0"/>
              <a:t>6/20/2024</a:t>
            </a:fld>
            <a:endParaRPr lang="en-US"/>
          </a:p>
        </p:txBody>
      </p:sp>
      <p:sp>
        <p:nvSpPr>
          <p:cNvPr id="6" name="Footer Placeholder 5"/>
          <p:cNvSpPr>
            <a:spLocks noGrp="1"/>
          </p:cNvSpPr>
          <p:nvPr>
            <p:ph type="ftr" sz="quarter" idx="11"/>
          </p:nvPr>
        </p:nvSpPr>
        <p:spPr/>
        <p:txBody>
          <a:bodyPr/>
          <a:lstStyle>
            <a:lvl1pPr>
              <a:defRPr/>
            </a:lvl1pPr>
          </a:lstStyle>
          <a:p>
            <a:r>
              <a:rPr lang="en-US"/>
              <a:t>Introduction to Computing</a:t>
            </a:r>
            <a:endParaRPr lang="en-US" dirty="0"/>
          </a:p>
        </p:txBody>
      </p:sp>
      <p:sp>
        <p:nvSpPr>
          <p:cNvPr id="7" name="Slide Number Placeholder 6"/>
          <p:cNvSpPr>
            <a:spLocks noGrp="1"/>
          </p:cNvSpPr>
          <p:nvPr>
            <p:ph type="sldNum" sz="quarter" idx="12"/>
          </p:nvPr>
        </p:nvSpPr>
        <p:spPr/>
        <p:txBody>
          <a:bodyPr/>
          <a:lstStyle/>
          <a:p>
            <a:fld id="{FD3DDBF2-094B-4CA4-965C-FB22D307DBD7}" type="slidenum">
              <a:rPr lang="en-US" smtClean="0"/>
              <a:pPr/>
              <a:t>‹#›</a:t>
            </a:fld>
            <a:endParaRPr lang="en-US"/>
          </a:p>
        </p:txBody>
      </p:sp>
    </p:spTree>
    <p:extLst>
      <p:ext uri="{BB962C8B-B14F-4D97-AF65-F5344CB8AC3E}">
        <p14:creationId xmlns:p14="http://schemas.microsoft.com/office/powerpoint/2010/main" val="3684970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940FA1B-E411-4BC8-97D6-FFE274B40733}" type="datetime1">
              <a:rPr lang="en-US" smtClean="0"/>
              <a:t>6/20/2024</a:t>
            </a:fld>
            <a:endParaRPr lang="en-US"/>
          </a:p>
        </p:txBody>
      </p:sp>
      <p:sp>
        <p:nvSpPr>
          <p:cNvPr id="5" name="Footer Placeholder 4"/>
          <p:cNvSpPr>
            <a:spLocks noGrp="1"/>
          </p:cNvSpPr>
          <p:nvPr>
            <p:ph type="ftr" sz="quarter" idx="11"/>
          </p:nvPr>
        </p:nvSpPr>
        <p:spPr/>
        <p:txBody>
          <a:bodyPr/>
          <a:lstStyle>
            <a:lvl1pPr>
              <a:defRPr/>
            </a:lvl1pPr>
          </a:lstStyle>
          <a:p>
            <a:r>
              <a:rPr lang="en-US"/>
              <a:t>Introduction to Computing</a:t>
            </a:r>
            <a:endParaRPr lang="en-US" dirty="0"/>
          </a:p>
        </p:txBody>
      </p:sp>
      <p:sp>
        <p:nvSpPr>
          <p:cNvPr id="6" name="Slide Number Placeholder 5"/>
          <p:cNvSpPr>
            <a:spLocks noGrp="1"/>
          </p:cNvSpPr>
          <p:nvPr>
            <p:ph type="sldNum" sz="quarter" idx="12"/>
          </p:nvPr>
        </p:nvSpPr>
        <p:spPr/>
        <p:txBody>
          <a:bodyPr/>
          <a:lstStyle/>
          <a:p>
            <a:fld id="{FD3DDBF2-094B-4CA4-965C-FB22D307DBD7}" type="slidenum">
              <a:rPr lang="en-US" smtClean="0"/>
              <a:pPr/>
              <a:t>‹#›</a:t>
            </a:fld>
            <a:endParaRPr lang="en-US"/>
          </a:p>
        </p:txBody>
      </p:sp>
    </p:spTree>
    <p:extLst>
      <p:ext uri="{BB962C8B-B14F-4D97-AF65-F5344CB8AC3E}">
        <p14:creationId xmlns:p14="http://schemas.microsoft.com/office/powerpoint/2010/main" val="3423423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84EEB0-800D-4F8D-B7F6-EB2C34174552}" type="datetime1">
              <a:rPr lang="en-US" smtClean="0"/>
              <a:t>6/20/2024</a:t>
            </a:fld>
            <a:endParaRPr lang="en-US"/>
          </a:p>
        </p:txBody>
      </p:sp>
      <p:sp>
        <p:nvSpPr>
          <p:cNvPr id="5" name="Footer Placeholder 4"/>
          <p:cNvSpPr>
            <a:spLocks noGrp="1"/>
          </p:cNvSpPr>
          <p:nvPr>
            <p:ph type="ftr" sz="quarter" idx="11"/>
          </p:nvPr>
        </p:nvSpPr>
        <p:spPr/>
        <p:txBody>
          <a:bodyPr/>
          <a:lstStyle>
            <a:lvl1pPr>
              <a:defRPr/>
            </a:lvl1pPr>
          </a:lstStyle>
          <a:p>
            <a:r>
              <a:rPr lang="en-US"/>
              <a:t>Introduction to Computing</a:t>
            </a:r>
            <a:endParaRPr lang="en-US" dirty="0"/>
          </a:p>
        </p:txBody>
      </p:sp>
      <p:sp>
        <p:nvSpPr>
          <p:cNvPr id="6" name="Slide Number Placeholder 5"/>
          <p:cNvSpPr>
            <a:spLocks noGrp="1"/>
          </p:cNvSpPr>
          <p:nvPr>
            <p:ph type="sldNum" sz="quarter" idx="12"/>
          </p:nvPr>
        </p:nvSpPr>
        <p:spPr/>
        <p:txBody>
          <a:bodyPr/>
          <a:lstStyle/>
          <a:p>
            <a:fld id="{FD3DDBF2-094B-4CA4-965C-FB22D307DBD7}" type="slidenum">
              <a:rPr lang="en-US" smtClean="0"/>
              <a:pPr/>
              <a:t>‹#›</a:t>
            </a:fld>
            <a:endParaRPr lang="en-US"/>
          </a:p>
        </p:txBody>
      </p:sp>
    </p:spTree>
    <p:extLst>
      <p:ext uri="{BB962C8B-B14F-4D97-AF65-F5344CB8AC3E}">
        <p14:creationId xmlns:p14="http://schemas.microsoft.com/office/powerpoint/2010/main" val="3686101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1EEF8"/>
        </a:solidFill>
        <a:effectLst/>
      </p:bgPr>
    </p:bg>
    <p:spTree>
      <p:nvGrpSpPr>
        <p:cNvPr id="1" name=""/>
        <p:cNvGrpSpPr/>
        <p:nvPr/>
      </p:nvGrpSpPr>
      <p:grpSpPr>
        <a:xfrm>
          <a:off x="0" y="0"/>
          <a:ext cx="0" cy="0"/>
          <a:chOff x="0" y="0"/>
          <a:chExt cx="0" cy="0"/>
        </a:xfrm>
      </p:grpSpPr>
      <p:sp>
        <p:nvSpPr>
          <p:cNvPr id="12" name="Rectangle 11"/>
          <p:cNvSpPr/>
          <p:nvPr userDrawn="1"/>
        </p:nvSpPr>
        <p:spPr>
          <a:xfrm>
            <a:off x="0" y="236519"/>
            <a:ext cx="9144001" cy="1262791"/>
          </a:xfrm>
          <a:prstGeom prst="rect">
            <a:avLst/>
          </a:prstGeom>
          <a:solidFill>
            <a:srgbClr val="2729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337408"/>
            <a:ext cx="8229600" cy="103260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486400" y="6356350"/>
            <a:ext cx="1066800" cy="365125"/>
          </a:xfrm>
          <a:prstGeom prst="rect">
            <a:avLst/>
          </a:prstGeom>
        </p:spPr>
        <p:txBody>
          <a:bodyPr vert="horz" lIns="91440" tIns="45720" rIns="91440" bIns="45720" rtlCol="0" anchor="ctr"/>
          <a:lstStyle>
            <a:lvl1pPr algn="ctr">
              <a:defRPr sz="1200">
                <a:solidFill>
                  <a:srgbClr val="27297C"/>
                </a:solidFill>
              </a:defRPr>
            </a:lvl1pPr>
          </a:lstStyle>
          <a:p>
            <a:fld id="{FA16BC3E-D914-4655-9696-4AFD3595FAF3}" type="datetime1">
              <a:rPr lang="en-US" smtClean="0"/>
              <a:t>6/20/2024</a:t>
            </a:fld>
            <a:endParaRPr lang="en-US"/>
          </a:p>
        </p:txBody>
      </p:sp>
      <p:sp>
        <p:nvSpPr>
          <p:cNvPr id="5" name="Footer Placeholder 4"/>
          <p:cNvSpPr>
            <a:spLocks noGrp="1"/>
          </p:cNvSpPr>
          <p:nvPr>
            <p:ph type="ftr" sz="quarter" idx="3"/>
          </p:nvPr>
        </p:nvSpPr>
        <p:spPr>
          <a:xfrm>
            <a:off x="457199" y="6356350"/>
            <a:ext cx="4191001" cy="365125"/>
          </a:xfrm>
          <a:prstGeom prst="rect">
            <a:avLst/>
          </a:prstGeom>
        </p:spPr>
        <p:txBody>
          <a:bodyPr vert="horz" lIns="91440" tIns="45720" rIns="91440" bIns="45720" rtlCol="0" anchor="ctr"/>
          <a:lstStyle>
            <a:lvl1pPr algn="l">
              <a:defRPr sz="1200">
                <a:solidFill>
                  <a:srgbClr val="27297C"/>
                </a:solidFill>
              </a:defRPr>
            </a:lvl1pPr>
          </a:lstStyle>
          <a:p>
            <a:r>
              <a:rPr lang="en-US"/>
              <a:t>Introduction to Computing</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27297C"/>
                </a:solidFill>
              </a:defRPr>
            </a:lvl1pPr>
          </a:lstStyle>
          <a:p>
            <a:fld id="{FD3DDBF2-094B-4CA4-965C-FB22D307DBD7}" type="slidenum">
              <a:rPr lang="en-US" smtClean="0"/>
              <a:pPr/>
              <a:t>‹#›</a:t>
            </a:fld>
            <a:endParaRPr lang="en-US"/>
          </a:p>
        </p:txBody>
      </p:sp>
      <p:sp>
        <p:nvSpPr>
          <p:cNvPr id="8" name="object 14"/>
          <p:cNvSpPr/>
          <p:nvPr userDrawn="1"/>
        </p:nvSpPr>
        <p:spPr>
          <a:xfrm>
            <a:off x="-1" y="1442070"/>
            <a:ext cx="9144000" cy="103021"/>
          </a:xfrm>
          <a:custGeom>
            <a:avLst/>
            <a:gdLst/>
            <a:ahLst/>
            <a:cxnLst/>
            <a:rect l="l" t="t" r="r" b="b"/>
            <a:pathLst>
              <a:path w="10692000" h="104377">
                <a:moveTo>
                  <a:pt x="0" y="104377"/>
                </a:moveTo>
                <a:lnTo>
                  <a:pt x="10692000" y="104377"/>
                </a:lnTo>
                <a:lnTo>
                  <a:pt x="10692000" y="0"/>
                </a:lnTo>
                <a:lnTo>
                  <a:pt x="0" y="0"/>
                </a:lnTo>
                <a:lnTo>
                  <a:pt x="0" y="104377"/>
                </a:lnTo>
                <a:close/>
              </a:path>
            </a:pathLst>
          </a:custGeom>
          <a:solidFill>
            <a:srgbClr val="CFA54F"/>
          </a:solidFill>
        </p:spPr>
        <p:txBody>
          <a:bodyPr wrap="square" lIns="0" tIns="0" rIns="0" bIns="0" rtlCol="0">
            <a:noAutofit/>
          </a:bodyPr>
          <a:lstStyle/>
          <a:p>
            <a:endParaRPr/>
          </a:p>
        </p:txBody>
      </p:sp>
      <p:sp>
        <p:nvSpPr>
          <p:cNvPr id="16" name="Rectangle 15"/>
          <p:cNvSpPr/>
          <p:nvPr userDrawn="1"/>
        </p:nvSpPr>
        <p:spPr>
          <a:xfrm>
            <a:off x="-1" y="162053"/>
            <a:ext cx="9144001" cy="109728"/>
          </a:xfrm>
          <a:prstGeom prst="rect">
            <a:avLst/>
          </a:prstGeom>
          <a:solidFill>
            <a:srgbClr val="CFA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97329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000" b="1"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27297C"/>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rgbClr val="27297C"/>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rgbClr val="27297C"/>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rgbClr val="27297C"/>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rgbClr val="27297C"/>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1265903"/>
            <a:ext cx="6934200" cy="2133600"/>
          </a:xfrm>
        </p:spPr>
        <p:txBody>
          <a:bodyPr>
            <a:noAutofit/>
          </a:bodyPr>
          <a:lstStyle/>
          <a:p>
            <a:pPr algn="l"/>
            <a:r>
              <a:rPr lang="en-US" sz="5000" dirty="0"/>
              <a:t>Project Work Proposal Writing Guide</a:t>
            </a:r>
          </a:p>
        </p:txBody>
      </p:sp>
      <p:sp>
        <p:nvSpPr>
          <p:cNvPr id="3" name="Title 5"/>
          <p:cNvSpPr txBox="1">
            <a:spLocks/>
          </p:cNvSpPr>
          <p:nvPr/>
        </p:nvSpPr>
        <p:spPr>
          <a:xfrm>
            <a:off x="4038600" y="5105400"/>
            <a:ext cx="4648200" cy="14478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000" b="1" kern="1200">
                <a:solidFill>
                  <a:schemeClr val="bg1"/>
                </a:solidFill>
                <a:latin typeface="+mj-lt"/>
                <a:ea typeface="+mj-ea"/>
                <a:cs typeface="+mj-cs"/>
              </a:defRPr>
            </a:lvl1pPr>
          </a:lstStyle>
          <a:p>
            <a:pPr algn="r"/>
            <a:r>
              <a:rPr lang="en-US" sz="2800" dirty="0">
                <a:solidFill>
                  <a:schemeClr val="tx1"/>
                </a:solidFill>
              </a:rPr>
              <a:t>Joshua </a:t>
            </a:r>
            <a:r>
              <a:rPr lang="en-US" sz="2800" dirty="0" err="1">
                <a:solidFill>
                  <a:schemeClr val="tx1"/>
                </a:solidFill>
              </a:rPr>
              <a:t>Nettey</a:t>
            </a:r>
            <a:endParaRPr lang="en-US" sz="2800" dirty="0">
              <a:solidFill>
                <a:schemeClr val="tx1"/>
              </a:solidFill>
            </a:endParaRPr>
          </a:p>
        </p:txBody>
      </p:sp>
    </p:spTree>
    <p:extLst>
      <p:ext uri="{BB962C8B-B14F-4D97-AF65-F5344CB8AC3E}">
        <p14:creationId xmlns:p14="http://schemas.microsoft.com/office/powerpoint/2010/main" val="920692929"/>
      </p:ext>
    </p:extLst>
  </p:cSld>
  <p:clrMapOvr>
    <a:masterClrMapping/>
  </p:clrMapOvr>
  <mc:AlternateContent xmlns:mc="http://schemas.openxmlformats.org/markup-compatibility/2006" xmlns:p14="http://schemas.microsoft.com/office/powerpoint/2010/main">
    <mc:Choice Requires="p14">
      <p:transition p14:dur="0" advTm="14959"/>
    </mc:Choice>
    <mc:Fallback xmlns="">
      <p:transition advTm="1495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Outline</a:t>
            </a:r>
          </a:p>
        </p:txBody>
      </p:sp>
      <p:sp>
        <p:nvSpPr>
          <p:cNvPr id="9" name="Content Placeholder 6"/>
          <p:cNvSpPr>
            <a:spLocks noGrp="1"/>
          </p:cNvSpPr>
          <p:nvPr>
            <p:ph idx="1"/>
          </p:nvPr>
        </p:nvSpPr>
        <p:spPr>
          <a:xfrm>
            <a:off x="228600" y="1600200"/>
            <a:ext cx="8686799" cy="4103303"/>
          </a:xfrm>
          <a:prstGeom prst="rect">
            <a:avLst/>
          </a:prstGeom>
        </p:spPr>
        <p:txBody>
          <a:bodyPr wrap="square">
            <a:spAutoFit/>
          </a:bodyPr>
          <a:lstStyle/>
          <a:p>
            <a:pPr>
              <a:lnSpc>
                <a:spcPct val="150000"/>
              </a:lnSpc>
            </a:pPr>
            <a:r>
              <a:rPr lang="en-US" sz="3200" dirty="0">
                <a:solidFill>
                  <a:schemeClr val="tx1"/>
                </a:solidFill>
              </a:rPr>
              <a:t>Background of the study</a:t>
            </a:r>
          </a:p>
          <a:p>
            <a:pPr>
              <a:lnSpc>
                <a:spcPct val="150000"/>
              </a:lnSpc>
            </a:pPr>
            <a:r>
              <a:rPr lang="en-US" sz="3200" dirty="0">
                <a:solidFill>
                  <a:schemeClr val="tx1"/>
                </a:solidFill>
              </a:rPr>
              <a:t>Problem Statements</a:t>
            </a:r>
          </a:p>
          <a:p>
            <a:pPr>
              <a:lnSpc>
                <a:spcPct val="150000"/>
              </a:lnSpc>
            </a:pPr>
            <a:r>
              <a:rPr lang="en-US" sz="3200" dirty="0">
                <a:solidFill>
                  <a:schemeClr val="tx1"/>
                </a:solidFill>
              </a:rPr>
              <a:t>Objectives</a:t>
            </a:r>
          </a:p>
          <a:p>
            <a:pPr>
              <a:lnSpc>
                <a:spcPct val="150000"/>
              </a:lnSpc>
            </a:pPr>
            <a:r>
              <a:rPr lang="en-US" sz="3200" dirty="0">
                <a:solidFill>
                  <a:schemeClr val="tx1"/>
                </a:solidFill>
              </a:rPr>
              <a:t>Scope</a:t>
            </a:r>
          </a:p>
          <a:p>
            <a:pPr>
              <a:lnSpc>
                <a:spcPct val="150000"/>
              </a:lnSpc>
            </a:pPr>
            <a:r>
              <a:rPr lang="en-US" sz="3200" dirty="0">
                <a:solidFill>
                  <a:schemeClr val="tx1"/>
                </a:solidFill>
              </a:rPr>
              <a:t>Significance of the study</a:t>
            </a: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2</a:t>
            </a:fld>
            <a:endParaRPr lang="en-US"/>
          </a:p>
        </p:txBody>
      </p:sp>
    </p:spTree>
    <p:extLst>
      <p:ext uri="{BB962C8B-B14F-4D97-AF65-F5344CB8AC3E}">
        <p14:creationId xmlns:p14="http://schemas.microsoft.com/office/powerpoint/2010/main" val="39361588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Outline   (</a:t>
            </a:r>
            <a:r>
              <a:rPr lang="en-GB" sz="3600" dirty="0" err="1">
                <a:latin typeface="Calibri (Headings)"/>
                <a:ea typeface="Tahoma" panose="020B0604030504040204" pitchFamily="34" charset="0"/>
                <a:cs typeface="Tahoma" panose="020B0604030504040204" pitchFamily="34" charset="0"/>
              </a:rPr>
              <a:t>Cont</a:t>
            </a:r>
            <a:r>
              <a:rPr lang="en-GB" sz="3600" dirty="0">
                <a:latin typeface="Calibri (Headings)"/>
                <a:ea typeface="Tahoma" panose="020B0604030504040204" pitchFamily="34" charset="0"/>
                <a:cs typeface="Tahoma" panose="020B0604030504040204" pitchFamily="34" charset="0"/>
              </a:rPr>
              <a:t>…)</a:t>
            </a:r>
          </a:p>
        </p:txBody>
      </p:sp>
      <p:sp>
        <p:nvSpPr>
          <p:cNvPr id="9" name="Content Placeholder 6"/>
          <p:cNvSpPr>
            <a:spLocks noGrp="1"/>
          </p:cNvSpPr>
          <p:nvPr>
            <p:ph idx="1"/>
          </p:nvPr>
        </p:nvSpPr>
        <p:spPr>
          <a:xfrm>
            <a:off x="228600" y="1600200"/>
            <a:ext cx="8686799" cy="3266151"/>
          </a:xfrm>
          <a:prstGeom prst="rect">
            <a:avLst/>
          </a:prstGeom>
        </p:spPr>
        <p:txBody>
          <a:bodyPr wrap="square">
            <a:spAutoFit/>
          </a:bodyPr>
          <a:lstStyle/>
          <a:p>
            <a:pPr>
              <a:lnSpc>
                <a:spcPct val="150000"/>
              </a:lnSpc>
            </a:pPr>
            <a:r>
              <a:rPr lang="en-US" sz="3200" dirty="0">
                <a:solidFill>
                  <a:schemeClr val="tx1"/>
                </a:solidFill>
              </a:rPr>
              <a:t>Literature Review</a:t>
            </a:r>
          </a:p>
          <a:p>
            <a:pPr>
              <a:lnSpc>
                <a:spcPct val="150000"/>
              </a:lnSpc>
            </a:pPr>
            <a:r>
              <a:rPr lang="en-US" sz="3200" dirty="0">
                <a:solidFill>
                  <a:schemeClr val="tx1"/>
                </a:solidFill>
              </a:rPr>
              <a:t>Methodology</a:t>
            </a:r>
          </a:p>
          <a:p>
            <a:pPr>
              <a:lnSpc>
                <a:spcPct val="150000"/>
              </a:lnSpc>
            </a:pPr>
            <a:r>
              <a:rPr lang="en-US" sz="3200" dirty="0">
                <a:solidFill>
                  <a:schemeClr val="tx1"/>
                </a:solidFill>
              </a:rPr>
              <a:t>Gantt Chart</a:t>
            </a:r>
          </a:p>
          <a:p>
            <a:pPr>
              <a:lnSpc>
                <a:spcPct val="150000"/>
              </a:lnSpc>
            </a:pPr>
            <a:r>
              <a:rPr lang="en-US" sz="3200" dirty="0">
                <a:solidFill>
                  <a:schemeClr val="tx1"/>
                </a:solidFill>
              </a:rPr>
              <a:t>Budget </a:t>
            </a: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3</a:t>
            </a:fld>
            <a:endParaRPr lang="en-US"/>
          </a:p>
        </p:txBody>
      </p:sp>
    </p:spTree>
    <p:extLst>
      <p:ext uri="{BB962C8B-B14F-4D97-AF65-F5344CB8AC3E}">
        <p14:creationId xmlns:p14="http://schemas.microsoft.com/office/powerpoint/2010/main" val="409316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Background of the study</a:t>
            </a:r>
          </a:p>
        </p:txBody>
      </p:sp>
      <p:sp>
        <p:nvSpPr>
          <p:cNvPr id="9" name="Content Placeholder 6"/>
          <p:cNvSpPr>
            <a:spLocks noGrp="1"/>
          </p:cNvSpPr>
          <p:nvPr>
            <p:ph idx="1"/>
          </p:nvPr>
        </p:nvSpPr>
        <p:spPr>
          <a:xfrm>
            <a:off x="228600" y="1693140"/>
            <a:ext cx="8686799" cy="3471720"/>
          </a:xfrm>
          <a:prstGeom prst="rect">
            <a:avLst/>
          </a:prstGeom>
        </p:spPr>
        <p:txBody>
          <a:bodyPr wrap="square">
            <a:spAutoFit/>
          </a:bodyPr>
          <a:lstStyle/>
          <a:p>
            <a:pPr>
              <a:lnSpc>
                <a:spcPct val="150000"/>
              </a:lnSpc>
            </a:pPr>
            <a:r>
              <a:rPr lang="en-US" sz="3200" dirty="0">
                <a:solidFill>
                  <a:schemeClr val="tx1"/>
                </a:solidFill>
              </a:rPr>
              <a:t>The background of a study for a project work should explain the </a:t>
            </a:r>
            <a:r>
              <a:rPr lang="en-US" sz="3200" b="1" dirty="0">
                <a:solidFill>
                  <a:schemeClr val="tx1"/>
                </a:solidFill>
              </a:rPr>
              <a:t>introduction</a:t>
            </a:r>
            <a:r>
              <a:rPr lang="en-US" sz="3200" dirty="0">
                <a:solidFill>
                  <a:schemeClr val="tx1"/>
                </a:solidFill>
              </a:rPr>
              <a:t>: </a:t>
            </a:r>
          </a:p>
          <a:p>
            <a:pPr lvl="1">
              <a:lnSpc>
                <a:spcPct val="200000"/>
              </a:lnSpc>
            </a:pPr>
            <a:r>
              <a:rPr lang="en-US" sz="3000" dirty="0">
                <a:solidFill>
                  <a:schemeClr val="tx1"/>
                </a:solidFill>
              </a:rPr>
              <a:t>Should provide an overview of the project.</a:t>
            </a:r>
          </a:p>
          <a:p>
            <a:pPr lvl="1">
              <a:lnSpc>
                <a:spcPct val="200000"/>
              </a:lnSpc>
            </a:pPr>
            <a:r>
              <a:rPr lang="en-US" sz="3000" dirty="0">
                <a:solidFill>
                  <a:schemeClr val="tx1"/>
                </a:solidFill>
              </a:rPr>
              <a:t>Should explain why it is important. </a:t>
            </a: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4</a:t>
            </a:fld>
            <a:endParaRPr lang="en-US"/>
          </a:p>
        </p:txBody>
      </p:sp>
    </p:spTree>
    <p:extLst>
      <p:ext uri="{BB962C8B-B14F-4D97-AF65-F5344CB8AC3E}">
        <p14:creationId xmlns:p14="http://schemas.microsoft.com/office/powerpoint/2010/main" val="9880585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Problem Statement</a:t>
            </a:r>
          </a:p>
        </p:txBody>
      </p:sp>
      <p:sp>
        <p:nvSpPr>
          <p:cNvPr id="9" name="Content Placeholder 6"/>
          <p:cNvSpPr>
            <a:spLocks noGrp="1"/>
          </p:cNvSpPr>
          <p:nvPr>
            <p:ph idx="1"/>
          </p:nvPr>
        </p:nvSpPr>
        <p:spPr>
          <a:xfrm>
            <a:off x="228600" y="1693140"/>
            <a:ext cx="8686799" cy="4228850"/>
          </a:xfrm>
          <a:prstGeom prst="rect">
            <a:avLst/>
          </a:prstGeom>
        </p:spPr>
        <p:txBody>
          <a:bodyPr wrap="square">
            <a:spAutoFit/>
          </a:bodyPr>
          <a:lstStyle/>
          <a:p>
            <a:r>
              <a:rPr lang="en-US" sz="3200" dirty="0">
                <a:solidFill>
                  <a:schemeClr val="tx1"/>
                </a:solidFill>
              </a:rPr>
              <a:t>The problem statement should clearly define the problem, its context, and its impact, and provide a basis for developing a solution or approach to address the issue.</a:t>
            </a:r>
          </a:p>
          <a:p>
            <a:endParaRPr lang="en-US" sz="3200" dirty="0">
              <a:solidFill>
                <a:schemeClr val="tx1"/>
              </a:solidFill>
            </a:endParaRPr>
          </a:p>
          <a:p>
            <a:r>
              <a:rPr lang="en-US" sz="3200" dirty="0">
                <a:solidFill>
                  <a:schemeClr val="tx1"/>
                </a:solidFill>
              </a:rPr>
              <a:t>The problem statement should be specific, focused, and clear, and should provide a basis for developing a project plan or strategy.</a:t>
            </a:r>
            <a:endParaRPr lang="en-US" sz="3000" dirty="0">
              <a:solidFill>
                <a:schemeClr val="tx1"/>
              </a:solidFill>
            </a:endParaRP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5</a:t>
            </a:fld>
            <a:endParaRPr lang="en-US"/>
          </a:p>
        </p:txBody>
      </p:sp>
    </p:spTree>
    <p:extLst>
      <p:ext uri="{BB962C8B-B14F-4D97-AF65-F5344CB8AC3E}">
        <p14:creationId xmlns:p14="http://schemas.microsoft.com/office/powerpoint/2010/main" val="9616019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Objectives</a:t>
            </a:r>
          </a:p>
        </p:txBody>
      </p:sp>
      <p:sp>
        <p:nvSpPr>
          <p:cNvPr id="9" name="Content Placeholder 6"/>
          <p:cNvSpPr>
            <a:spLocks noGrp="1"/>
          </p:cNvSpPr>
          <p:nvPr>
            <p:ph idx="1"/>
          </p:nvPr>
        </p:nvSpPr>
        <p:spPr>
          <a:xfrm>
            <a:off x="228600" y="1524000"/>
            <a:ext cx="8686799" cy="5213735"/>
          </a:xfrm>
          <a:prstGeom prst="rect">
            <a:avLst/>
          </a:prstGeom>
        </p:spPr>
        <p:txBody>
          <a:bodyPr wrap="square">
            <a:spAutoFit/>
          </a:bodyPr>
          <a:lstStyle/>
          <a:p>
            <a:r>
              <a:rPr lang="en-US" sz="3200" dirty="0">
                <a:solidFill>
                  <a:schemeClr val="tx1"/>
                </a:solidFill>
              </a:rPr>
              <a:t>The objectives of a project should provide a clear and focused statement of what the project aims to achieve, and how its success will be measured.</a:t>
            </a:r>
          </a:p>
          <a:p>
            <a:endParaRPr lang="en-US" sz="3200" dirty="0">
              <a:solidFill>
                <a:schemeClr val="tx1"/>
              </a:solidFill>
            </a:endParaRPr>
          </a:p>
          <a:p>
            <a:r>
              <a:rPr lang="en-US" sz="3200" dirty="0">
                <a:solidFill>
                  <a:schemeClr val="tx1"/>
                </a:solidFill>
              </a:rPr>
              <a:t>Should be aligned with the project's purpose and goals, and should be developed in consultation with stakeholders and partners to ensure that they reflect the needs and priorities of the community or organization that the project serves.</a:t>
            </a: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6</a:t>
            </a:fld>
            <a:endParaRPr lang="en-US"/>
          </a:p>
        </p:txBody>
      </p:sp>
    </p:spTree>
    <p:extLst>
      <p:ext uri="{BB962C8B-B14F-4D97-AF65-F5344CB8AC3E}">
        <p14:creationId xmlns:p14="http://schemas.microsoft.com/office/powerpoint/2010/main" val="35104024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Scope</a:t>
            </a:r>
          </a:p>
        </p:txBody>
      </p:sp>
      <p:sp>
        <p:nvSpPr>
          <p:cNvPr id="9" name="Content Placeholder 6"/>
          <p:cNvSpPr>
            <a:spLocks noGrp="1"/>
          </p:cNvSpPr>
          <p:nvPr>
            <p:ph idx="1"/>
          </p:nvPr>
        </p:nvSpPr>
        <p:spPr>
          <a:xfrm>
            <a:off x="228600" y="1524000"/>
            <a:ext cx="8686799" cy="3508653"/>
          </a:xfrm>
          <a:prstGeom prst="rect">
            <a:avLst/>
          </a:prstGeom>
        </p:spPr>
        <p:txBody>
          <a:bodyPr wrap="square">
            <a:spAutoFit/>
          </a:bodyPr>
          <a:lstStyle/>
          <a:p>
            <a:r>
              <a:rPr lang="en-US" sz="3000" dirty="0">
                <a:solidFill>
                  <a:schemeClr val="tx1"/>
                </a:solidFill>
              </a:rPr>
              <a:t>The scope of a project defines the boundaries and extent of the project. </a:t>
            </a:r>
          </a:p>
          <a:p>
            <a:endParaRPr lang="en-US" sz="3000" dirty="0">
              <a:solidFill>
                <a:schemeClr val="tx1"/>
              </a:solidFill>
            </a:endParaRPr>
          </a:p>
          <a:p>
            <a:r>
              <a:rPr lang="en-US" sz="3000" dirty="0">
                <a:solidFill>
                  <a:schemeClr val="tx1"/>
                </a:solidFill>
              </a:rPr>
              <a:t>It outlines the specific deliverables, activities, and outcomes that are included in the project, as well as the tasks, resources, and constraints that will be involved</a:t>
            </a:r>
            <a:r>
              <a:rPr lang="en-US" sz="3000" dirty="0" smtClean="0">
                <a:solidFill>
                  <a:schemeClr val="tx1"/>
                </a:solidFill>
              </a:rPr>
              <a:t>.</a:t>
            </a:r>
            <a:endParaRPr lang="en-US" sz="3000" dirty="0">
              <a:solidFill>
                <a:schemeClr val="tx1"/>
              </a:solidFill>
            </a:endParaRP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7</a:t>
            </a:fld>
            <a:endParaRPr lang="en-US"/>
          </a:p>
        </p:txBody>
      </p:sp>
    </p:spTree>
    <p:extLst>
      <p:ext uri="{BB962C8B-B14F-4D97-AF65-F5344CB8AC3E}">
        <p14:creationId xmlns:p14="http://schemas.microsoft.com/office/powerpoint/2010/main" val="40315872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Significance of the Project</a:t>
            </a:r>
          </a:p>
        </p:txBody>
      </p:sp>
      <p:sp>
        <p:nvSpPr>
          <p:cNvPr id="9" name="Content Placeholder 6"/>
          <p:cNvSpPr>
            <a:spLocks noGrp="1"/>
          </p:cNvSpPr>
          <p:nvPr>
            <p:ph idx="1"/>
          </p:nvPr>
        </p:nvSpPr>
        <p:spPr>
          <a:xfrm>
            <a:off x="228600" y="1693140"/>
            <a:ext cx="8686799" cy="3736407"/>
          </a:xfrm>
          <a:prstGeom prst="rect">
            <a:avLst/>
          </a:prstGeom>
        </p:spPr>
        <p:txBody>
          <a:bodyPr wrap="square">
            <a:spAutoFit/>
          </a:bodyPr>
          <a:lstStyle/>
          <a:p>
            <a:r>
              <a:rPr lang="en-US" sz="3200" dirty="0">
                <a:solidFill>
                  <a:schemeClr val="tx1"/>
                </a:solidFill>
              </a:rPr>
              <a:t>The significance of a project should explain the importance or relevance of the project's objectives and outcomes, </a:t>
            </a:r>
          </a:p>
          <a:p>
            <a:endParaRPr lang="en-US" sz="3200" dirty="0">
              <a:solidFill>
                <a:schemeClr val="tx1"/>
              </a:solidFill>
            </a:endParaRPr>
          </a:p>
          <a:p>
            <a:r>
              <a:rPr lang="en-US" sz="3200" dirty="0">
                <a:solidFill>
                  <a:schemeClr val="tx1"/>
                </a:solidFill>
              </a:rPr>
              <a:t>Should explain how the project work contribute to addressing a particular problem or meeting a specific need. </a:t>
            </a:r>
            <a:endParaRPr lang="en-US" sz="3000" dirty="0">
              <a:solidFill>
                <a:schemeClr val="tx1"/>
              </a:solidFill>
            </a:endParaRP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8</a:t>
            </a:fld>
            <a:endParaRPr lang="en-US"/>
          </a:p>
        </p:txBody>
      </p:sp>
    </p:spTree>
    <p:extLst>
      <p:ext uri="{BB962C8B-B14F-4D97-AF65-F5344CB8AC3E}">
        <p14:creationId xmlns:p14="http://schemas.microsoft.com/office/powerpoint/2010/main" val="32311177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Significance of the Project   (</a:t>
            </a:r>
            <a:r>
              <a:rPr lang="en-GB" sz="3600" dirty="0" err="1">
                <a:latin typeface="Calibri (Headings)"/>
                <a:ea typeface="Tahoma" panose="020B0604030504040204" pitchFamily="34" charset="0"/>
                <a:cs typeface="Tahoma" panose="020B0604030504040204" pitchFamily="34" charset="0"/>
              </a:rPr>
              <a:t>Cont</a:t>
            </a:r>
            <a:r>
              <a:rPr lang="en-GB" sz="3600" dirty="0">
                <a:latin typeface="Calibri (Headings)"/>
                <a:ea typeface="Tahoma" panose="020B0604030504040204" pitchFamily="34" charset="0"/>
                <a:cs typeface="Tahoma" panose="020B0604030504040204" pitchFamily="34" charset="0"/>
              </a:rPr>
              <a:t>…)</a:t>
            </a:r>
          </a:p>
        </p:txBody>
      </p:sp>
      <p:sp>
        <p:nvSpPr>
          <p:cNvPr id="9" name="Content Placeholder 6"/>
          <p:cNvSpPr>
            <a:spLocks noGrp="1"/>
          </p:cNvSpPr>
          <p:nvPr>
            <p:ph idx="1"/>
          </p:nvPr>
        </p:nvSpPr>
        <p:spPr>
          <a:xfrm>
            <a:off x="228600" y="1693140"/>
            <a:ext cx="8686799" cy="4929811"/>
          </a:xfrm>
          <a:prstGeom prst="rect">
            <a:avLst/>
          </a:prstGeom>
        </p:spPr>
        <p:txBody>
          <a:bodyPr wrap="square">
            <a:spAutoFit/>
          </a:bodyPr>
          <a:lstStyle/>
          <a:p>
            <a:r>
              <a:rPr lang="en-US" sz="3200" dirty="0">
                <a:solidFill>
                  <a:schemeClr val="tx1"/>
                </a:solidFill>
              </a:rPr>
              <a:t>The significance of a project should include the following elements:</a:t>
            </a:r>
          </a:p>
          <a:p>
            <a:pPr lvl="1">
              <a:lnSpc>
                <a:spcPct val="150000"/>
              </a:lnSpc>
            </a:pPr>
            <a:r>
              <a:rPr lang="en-US" sz="3000" dirty="0">
                <a:solidFill>
                  <a:schemeClr val="tx1"/>
                </a:solidFill>
              </a:rPr>
              <a:t>Relevance to the community or organization</a:t>
            </a:r>
          </a:p>
          <a:p>
            <a:pPr lvl="1">
              <a:lnSpc>
                <a:spcPct val="150000"/>
              </a:lnSpc>
            </a:pPr>
            <a:r>
              <a:rPr lang="en-US" sz="3000" dirty="0">
                <a:solidFill>
                  <a:schemeClr val="tx1"/>
                </a:solidFill>
              </a:rPr>
              <a:t>Potential impact</a:t>
            </a:r>
          </a:p>
          <a:p>
            <a:pPr lvl="1">
              <a:lnSpc>
                <a:spcPct val="150000"/>
              </a:lnSpc>
            </a:pPr>
            <a:r>
              <a:rPr lang="en-US" sz="3000" dirty="0">
                <a:solidFill>
                  <a:schemeClr val="tx1"/>
                </a:solidFill>
              </a:rPr>
              <a:t>Innovation</a:t>
            </a:r>
          </a:p>
          <a:p>
            <a:pPr lvl="1">
              <a:lnSpc>
                <a:spcPct val="150000"/>
              </a:lnSpc>
            </a:pPr>
            <a:r>
              <a:rPr lang="en-US" sz="3000" dirty="0">
                <a:solidFill>
                  <a:schemeClr val="tx1"/>
                </a:solidFill>
              </a:rPr>
              <a:t>Contribution to knowledge</a:t>
            </a:r>
          </a:p>
          <a:p>
            <a:pPr lvl="1">
              <a:lnSpc>
                <a:spcPct val="150000"/>
              </a:lnSpc>
            </a:pPr>
            <a:r>
              <a:rPr lang="en-US" sz="3000" dirty="0">
                <a:solidFill>
                  <a:schemeClr val="tx1"/>
                </a:solidFill>
              </a:rPr>
              <a:t>Long-term sustainability</a:t>
            </a:r>
            <a:endParaRPr lang="en-US" sz="2800" dirty="0">
              <a:solidFill>
                <a:schemeClr val="tx1"/>
              </a:solidFill>
            </a:endParaRP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9</a:t>
            </a:fld>
            <a:endParaRPr lang="en-US"/>
          </a:p>
        </p:txBody>
      </p:sp>
    </p:spTree>
    <p:extLst>
      <p:ext uri="{BB962C8B-B14F-4D97-AF65-F5344CB8AC3E}">
        <p14:creationId xmlns:p14="http://schemas.microsoft.com/office/powerpoint/2010/main" val="7729887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Literature Review</a:t>
            </a:r>
          </a:p>
        </p:txBody>
      </p:sp>
      <p:sp>
        <p:nvSpPr>
          <p:cNvPr id="9" name="Content Placeholder 6"/>
          <p:cNvSpPr>
            <a:spLocks noGrp="1"/>
          </p:cNvSpPr>
          <p:nvPr>
            <p:ph idx="1"/>
          </p:nvPr>
        </p:nvSpPr>
        <p:spPr>
          <a:xfrm>
            <a:off x="228600" y="1693140"/>
            <a:ext cx="8686799" cy="3637919"/>
          </a:xfrm>
          <a:prstGeom prst="rect">
            <a:avLst/>
          </a:prstGeom>
        </p:spPr>
        <p:txBody>
          <a:bodyPr wrap="square">
            <a:spAutoFit/>
          </a:bodyPr>
          <a:lstStyle/>
          <a:p>
            <a:r>
              <a:rPr lang="en-US" sz="3200" dirty="0">
                <a:solidFill>
                  <a:schemeClr val="tx1"/>
                </a:solidFill>
              </a:rPr>
              <a:t>A literature review is a critical analysis of the existing literature (a work done by others) and should be relevant to the title of the project. </a:t>
            </a:r>
          </a:p>
          <a:p>
            <a:endParaRPr lang="en-US" sz="3200" dirty="0">
              <a:solidFill>
                <a:schemeClr val="tx1"/>
              </a:solidFill>
            </a:endParaRPr>
          </a:p>
          <a:p>
            <a:r>
              <a:rPr lang="en-US" sz="3000" dirty="0">
                <a:solidFill>
                  <a:schemeClr val="tx1"/>
                </a:solidFill>
              </a:rPr>
              <a:t>Should be grounded in the current state of knowledge in the field, and should provide a clear and compelling case for the need for the project.</a:t>
            </a: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10</a:t>
            </a:fld>
            <a:endParaRPr lang="en-US"/>
          </a:p>
        </p:txBody>
      </p:sp>
    </p:spTree>
    <p:extLst>
      <p:ext uri="{BB962C8B-B14F-4D97-AF65-F5344CB8AC3E}">
        <p14:creationId xmlns:p14="http://schemas.microsoft.com/office/powerpoint/2010/main" val="21446161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Literature Review   (</a:t>
            </a:r>
            <a:r>
              <a:rPr lang="en-GB" sz="3600" dirty="0" err="1">
                <a:latin typeface="Calibri (Headings)"/>
                <a:ea typeface="Tahoma" panose="020B0604030504040204" pitchFamily="34" charset="0"/>
                <a:cs typeface="Tahoma" panose="020B0604030504040204" pitchFamily="34" charset="0"/>
              </a:rPr>
              <a:t>Cont</a:t>
            </a:r>
            <a:r>
              <a:rPr lang="en-GB" sz="3600" dirty="0">
                <a:latin typeface="Calibri (Headings)"/>
                <a:ea typeface="Tahoma" panose="020B0604030504040204" pitchFamily="34" charset="0"/>
                <a:cs typeface="Tahoma" panose="020B0604030504040204" pitchFamily="34" charset="0"/>
              </a:rPr>
              <a:t>…)</a:t>
            </a:r>
          </a:p>
        </p:txBody>
      </p:sp>
      <p:sp>
        <p:nvSpPr>
          <p:cNvPr id="9" name="Content Placeholder 6"/>
          <p:cNvSpPr>
            <a:spLocks noGrp="1"/>
          </p:cNvSpPr>
          <p:nvPr>
            <p:ph idx="1"/>
          </p:nvPr>
        </p:nvSpPr>
        <p:spPr>
          <a:xfrm>
            <a:off x="228600" y="1693140"/>
            <a:ext cx="8686799" cy="4425827"/>
          </a:xfrm>
          <a:prstGeom prst="rect">
            <a:avLst/>
          </a:prstGeom>
        </p:spPr>
        <p:txBody>
          <a:bodyPr wrap="square">
            <a:spAutoFit/>
          </a:bodyPr>
          <a:lstStyle/>
          <a:p>
            <a:r>
              <a:rPr lang="en-US" sz="3200" b="1" dirty="0">
                <a:solidFill>
                  <a:schemeClr val="tx1"/>
                </a:solidFill>
              </a:rPr>
              <a:t>NB: </a:t>
            </a:r>
            <a:r>
              <a:rPr lang="en-US" sz="3200" dirty="0">
                <a:solidFill>
                  <a:schemeClr val="tx1"/>
                </a:solidFill>
              </a:rPr>
              <a:t>You must examine at </a:t>
            </a:r>
            <a:r>
              <a:rPr lang="en-US" sz="3200">
                <a:solidFill>
                  <a:schemeClr val="tx1"/>
                </a:solidFill>
              </a:rPr>
              <a:t>least </a:t>
            </a:r>
            <a:r>
              <a:rPr lang="en-US" sz="3200" smtClean="0">
                <a:solidFill>
                  <a:schemeClr val="tx1"/>
                </a:solidFill>
              </a:rPr>
              <a:t>five (5</a:t>
            </a:r>
            <a:r>
              <a:rPr lang="en-US" sz="3200" dirty="0" smtClean="0">
                <a:solidFill>
                  <a:schemeClr val="tx1"/>
                </a:solidFill>
              </a:rPr>
              <a:t>) </a:t>
            </a:r>
            <a:r>
              <a:rPr lang="en-US" sz="3200" dirty="0">
                <a:solidFill>
                  <a:schemeClr val="tx1"/>
                </a:solidFill>
              </a:rPr>
              <a:t>systems related to your project.</a:t>
            </a:r>
          </a:p>
          <a:p>
            <a:endParaRPr lang="en-US" sz="3200" b="1" dirty="0">
              <a:solidFill>
                <a:schemeClr val="tx1"/>
              </a:solidFill>
            </a:endParaRPr>
          </a:p>
          <a:p>
            <a:r>
              <a:rPr lang="en-US" sz="3200" dirty="0">
                <a:solidFill>
                  <a:schemeClr val="tx1"/>
                </a:solidFill>
              </a:rPr>
              <a:t>Define each system under consideration and indicate its purpose (s).</a:t>
            </a:r>
          </a:p>
          <a:p>
            <a:endParaRPr lang="en-US" sz="3200" dirty="0">
              <a:solidFill>
                <a:schemeClr val="tx1"/>
              </a:solidFill>
            </a:endParaRPr>
          </a:p>
          <a:p>
            <a:r>
              <a:rPr lang="en-US" sz="3200" dirty="0">
                <a:solidFill>
                  <a:schemeClr val="tx1"/>
                </a:solidFill>
              </a:rPr>
              <a:t>Indicate the main characteristics and limitations (advantages and disadvantages) of each system.</a:t>
            </a:r>
            <a:endParaRPr lang="en-US" sz="3000" dirty="0">
              <a:solidFill>
                <a:schemeClr val="tx1"/>
              </a:solidFill>
            </a:endParaRP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11</a:t>
            </a:fld>
            <a:endParaRPr lang="en-US"/>
          </a:p>
        </p:txBody>
      </p:sp>
    </p:spTree>
    <p:extLst>
      <p:ext uri="{BB962C8B-B14F-4D97-AF65-F5344CB8AC3E}">
        <p14:creationId xmlns:p14="http://schemas.microsoft.com/office/powerpoint/2010/main" val="5054732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Methodology</a:t>
            </a:r>
          </a:p>
        </p:txBody>
      </p:sp>
      <p:sp>
        <p:nvSpPr>
          <p:cNvPr id="9" name="Content Placeholder 6"/>
          <p:cNvSpPr>
            <a:spLocks noGrp="1"/>
          </p:cNvSpPr>
          <p:nvPr>
            <p:ph idx="1"/>
          </p:nvPr>
        </p:nvSpPr>
        <p:spPr>
          <a:xfrm>
            <a:off x="228600" y="1693140"/>
            <a:ext cx="8686799" cy="4290405"/>
          </a:xfrm>
          <a:prstGeom prst="rect">
            <a:avLst/>
          </a:prstGeom>
        </p:spPr>
        <p:txBody>
          <a:bodyPr wrap="square">
            <a:spAutoFit/>
          </a:bodyPr>
          <a:lstStyle/>
          <a:p>
            <a:r>
              <a:rPr lang="en-US" sz="3200" dirty="0">
                <a:solidFill>
                  <a:schemeClr val="tx1"/>
                </a:solidFill>
              </a:rPr>
              <a:t>Discuss the software development methodology that will be used for the project.</a:t>
            </a:r>
          </a:p>
          <a:p>
            <a:endParaRPr lang="en-US" sz="3200" dirty="0">
              <a:solidFill>
                <a:schemeClr val="tx1"/>
              </a:solidFill>
            </a:endParaRPr>
          </a:p>
          <a:p>
            <a:r>
              <a:rPr lang="en-US" sz="3200" dirty="0">
                <a:solidFill>
                  <a:schemeClr val="tx1"/>
                </a:solidFill>
              </a:rPr>
              <a:t>Discuss the various activities you plan to carry out at each stage of the software development method you intend to use in order to successfully develop the proposed system.</a:t>
            </a:r>
          </a:p>
          <a:p>
            <a:endParaRPr lang="en-US" sz="3000" dirty="0">
              <a:solidFill>
                <a:schemeClr val="tx1"/>
              </a:solidFill>
            </a:endParaRP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12</a:t>
            </a:fld>
            <a:endParaRPr lang="en-US"/>
          </a:p>
        </p:txBody>
      </p:sp>
    </p:spTree>
    <p:extLst>
      <p:ext uri="{BB962C8B-B14F-4D97-AF65-F5344CB8AC3E}">
        <p14:creationId xmlns:p14="http://schemas.microsoft.com/office/powerpoint/2010/main" val="41022694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Gantt Chart</a:t>
            </a:r>
          </a:p>
        </p:txBody>
      </p:sp>
      <p:sp>
        <p:nvSpPr>
          <p:cNvPr id="9" name="Content Placeholder 6"/>
          <p:cNvSpPr>
            <a:spLocks noGrp="1"/>
          </p:cNvSpPr>
          <p:nvPr>
            <p:ph idx="1"/>
          </p:nvPr>
        </p:nvSpPr>
        <p:spPr>
          <a:xfrm>
            <a:off x="228600" y="1693140"/>
            <a:ext cx="8686799" cy="4561249"/>
          </a:xfrm>
          <a:prstGeom prst="rect">
            <a:avLst/>
          </a:prstGeom>
        </p:spPr>
        <p:txBody>
          <a:bodyPr wrap="square">
            <a:spAutoFit/>
          </a:bodyPr>
          <a:lstStyle/>
          <a:p>
            <a:r>
              <a:rPr lang="en-US" sz="3200" dirty="0">
                <a:solidFill>
                  <a:schemeClr val="tx1"/>
                </a:solidFill>
              </a:rPr>
              <a:t>A Gantt chart is a tool used in project management to visually represent the project schedule, tasks, and timelines.</a:t>
            </a:r>
          </a:p>
          <a:p>
            <a:endParaRPr lang="en-US" sz="3200" dirty="0">
              <a:solidFill>
                <a:schemeClr val="tx1"/>
              </a:solidFill>
            </a:endParaRPr>
          </a:p>
          <a:p>
            <a:r>
              <a:rPr lang="en-US" sz="3000" dirty="0">
                <a:solidFill>
                  <a:schemeClr val="tx1"/>
                </a:solidFill>
              </a:rPr>
              <a:t>A Gantt chart Gantt chart should provide a clear and detailed overview of the project schedule, allowing team members to understand the timing and sequencing of the various tasks and subtasks that need to be completed. </a:t>
            </a: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13</a:t>
            </a:fld>
            <a:endParaRPr lang="en-US"/>
          </a:p>
        </p:txBody>
      </p:sp>
    </p:spTree>
    <p:extLst>
      <p:ext uri="{BB962C8B-B14F-4D97-AF65-F5344CB8AC3E}">
        <p14:creationId xmlns:p14="http://schemas.microsoft.com/office/powerpoint/2010/main" val="2440897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Gantt Chart   (</a:t>
            </a:r>
            <a:r>
              <a:rPr lang="en-GB" sz="3600" dirty="0" err="1">
                <a:latin typeface="Calibri (Headings)"/>
                <a:ea typeface="Tahoma" panose="020B0604030504040204" pitchFamily="34" charset="0"/>
                <a:cs typeface="Tahoma" panose="020B0604030504040204" pitchFamily="34" charset="0"/>
              </a:rPr>
              <a:t>Cont</a:t>
            </a:r>
            <a:r>
              <a:rPr lang="en-GB" sz="3600" dirty="0">
                <a:latin typeface="Calibri (Headings)"/>
                <a:ea typeface="Tahoma" panose="020B0604030504040204" pitchFamily="34" charset="0"/>
                <a:cs typeface="Tahoma" panose="020B0604030504040204" pitchFamily="34" charset="0"/>
              </a:rPr>
              <a:t>…)</a:t>
            </a:r>
          </a:p>
        </p:txBody>
      </p:sp>
      <p:sp>
        <p:nvSpPr>
          <p:cNvPr id="9" name="Content Placeholder 6"/>
          <p:cNvSpPr>
            <a:spLocks noGrp="1"/>
          </p:cNvSpPr>
          <p:nvPr>
            <p:ph idx="1"/>
          </p:nvPr>
        </p:nvSpPr>
        <p:spPr>
          <a:xfrm>
            <a:off x="228600" y="1693140"/>
            <a:ext cx="8686799" cy="4253472"/>
          </a:xfrm>
          <a:prstGeom prst="rect">
            <a:avLst/>
          </a:prstGeom>
        </p:spPr>
        <p:txBody>
          <a:bodyPr wrap="square">
            <a:spAutoFit/>
          </a:bodyPr>
          <a:lstStyle/>
          <a:p>
            <a:r>
              <a:rPr lang="en-US" sz="3200" dirty="0">
                <a:solidFill>
                  <a:schemeClr val="tx1"/>
                </a:solidFill>
              </a:rPr>
              <a:t>A Gantt chart typically includes the following elements:</a:t>
            </a:r>
          </a:p>
          <a:p>
            <a:pPr lvl="3"/>
            <a:r>
              <a:rPr lang="en-US" sz="2800" dirty="0">
                <a:solidFill>
                  <a:schemeClr val="tx1"/>
                </a:solidFill>
              </a:rPr>
              <a:t>Tasks and subtasks</a:t>
            </a:r>
          </a:p>
          <a:p>
            <a:pPr lvl="3"/>
            <a:r>
              <a:rPr lang="en-US" sz="2800" dirty="0">
                <a:solidFill>
                  <a:schemeClr val="tx1"/>
                </a:solidFill>
              </a:rPr>
              <a:t>Duration</a:t>
            </a:r>
          </a:p>
          <a:p>
            <a:pPr lvl="3"/>
            <a:r>
              <a:rPr lang="en-US" sz="2800" dirty="0">
                <a:solidFill>
                  <a:schemeClr val="tx1"/>
                </a:solidFill>
              </a:rPr>
              <a:t>Dependencies</a:t>
            </a:r>
          </a:p>
          <a:p>
            <a:pPr lvl="3"/>
            <a:r>
              <a:rPr lang="en-US" sz="2800" dirty="0">
                <a:solidFill>
                  <a:schemeClr val="tx1"/>
                </a:solidFill>
              </a:rPr>
              <a:t>Milestones</a:t>
            </a:r>
          </a:p>
          <a:p>
            <a:pPr lvl="3"/>
            <a:r>
              <a:rPr lang="en-US" sz="2800" dirty="0">
                <a:solidFill>
                  <a:schemeClr val="tx1"/>
                </a:solidFill>
              </a:rPr>
              <a:t>Timeline</a:t>
            </a:r>
          </a:p>
          <a:p>
            <a:pPr lvl="3"/>
            <a:r>
              <a:rPr lang="en-US" sz="2800" dirty="0">
                <a:solidFill>
                  <a:schemeClr val="tx1"/>
                </a:solidFill>
              </a:rPr>
              <a:t>Progress tracking</a:t>
            </a:r>
            <a:endParaRPr lang="en-US" sz="2600" dirty="0">
              <a:solidFill>
                <a:schemeClr val="tx1"/>
              </a:solidFill>
            </a:endParaRP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14</a:t>
            </a:fld>
            <a:endParaRPr lang="en-US"/>
          </a:p>
        </p:txBody>
      </p:sp>
    </p:spTree>
    <p:extLst>
      <p:ext uri="{BB962C8B-B14F-4D97-AF65-F5344CB8AC3E}">
        <p14:creationId xmlns:p14="http://schemas.microsoft.com/office/powerpoint/2010/main" val="1014089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Budget</a:t>
            </a:r>
          </a:p>
        </p:txBody>
      </p:sp>
      <p:sp>
        <p:nvSpPr>
          <p:cNvPr id="9" name="Content Placeholder 6"/>
          <p:cNvSpPr>
            <a:spLocks noGrp="1"/>
          </p:cNvSpPr>
          <p:nvPr>
            <p:ph idx="1"/>
          </p:nvPr>
        </p:nvSpPr>
        <p:spPr>
          <a:xfrm>
            <a:off x="228600" y="1693140"/>
            <a:ext cx="8686799" cy="4327338"/>
          </a:xfrm>
          <a:prstGeom prst="rect">
            <a:avLst/>
          </a:prstGeom>
        </p:spPr>
        <p:txBody>
          <a:bodyPr wrap="square">
            <a:spAutoFit/>
          </a:bodyPr>
          <a:lstStyle/>
          <a:p>
            <a:r>
              <a:rPr lang="en-US" sz="3200" dirty="0">
                <a:solidFill>
                  <a:schemeClr val="tx1"/>
                </a:solidFill>
              </a:rPr>
              <a:t>A project budget is a detailed financial plan that outlines the estimated costs associated with a project.</a:t>
            </a:r>
          </a:p>
          <a:p>
            <a:endParaRPr lang="en-US" sz="3200" dirty="0">
              <a:solidFill>
                <a:schemeClr val="tx1"/>
              </a:solidFill>
            </a:endParaRPr>
          </a:p>
          <a:p>
            <a:r>
              <a:rPr lang="en-US" sz="3200" dirty="0">
                <a:solidFill>
                  <a:schemeClr val="tx1"/>
                </a:solidFill>
              </a:rPr>
              <a:t>The budget should provide a detailed breakdown of each cost element, along with the estimated amount for each item. </a:t>
            </a:r>
          </a:p>
          <a:p>
            <a:endParaRPr lang="en-US" sz="3200" dirty="0">
              <a:solidFill>
                <a:schemeClr val="tx1"/>
              </a:solidFill>
            </a:endParaRP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15</a:t>
            </a:fld>
            <a:endParaRPr lang="en-US"/>
          </a:p>
        </p:txBody>
      </p:sp>
    </p:spTree>
    <p:extLst>
      <p:ext uri="{BB962C8B-B14F-4D97-AF65-F5344CB8AC3E}">
        <p14:creationId xmlns:p14="http://schemas.microsoft.com/office/powerpoint/2010/main" val="4278111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Budget   (</a:t>
            </a:r>
            <a:r>
              <a:rPr lang="en-GB" sz="3600" dirty="0" err="1">
                <a:latin typeface="Calibri (Headings)"/>
                <a:ea typeface="Tahoma" panose="020B0604030504040204" pitchFamily="34" charset="0"/>
                <a:cs typeface="Tahoma" panose="020B0604030504040204" pitchFamily="34" charset="0"/>
              </a:rPr>
              <a:t>Cont</a:t>
            </a:r>
            <a:r>
              <a:rPr lang="en-GB" sz="3600" dirty="0">
                <a:latin typeface="Calibri (Headings)"/>
                <a:ea typeface="Tahoma" panose="020B0604030504040204" pitchFamily="34" charset="0"/>
                <a:cs typeface="Tahoma" panose="020B0604030504040204" pitchFamily="34" charset="0"/>
              </a:rPr>
              <a:t>…)</a:t>
            </a:r>
          </a:p>
        </p:txBody>
      </p:sp>
      <p:sp>
        <p:nvSpPr>
          <p:cNvPr id="9" name="Content Placeholder 6"/>
          <p:cNvSpPr>
            <a:spLocks noGrp="1"/>
          </p:cNvSpPr>
          <p:nvPr>
            <p:ph idx="1"/>
          </p:nvPr>
        </p:nvSpPr>
        <p:spPr>
          <a:xfrm>
            <a:off x="228600" y="1600200"/>
            <a:ext cx="8686799" cy="5078313"/>
          </a:xfrm>
          <a:prstGeom prst="rect">
            <a:avLst/>
          </a:prstGeom>
        </p:spPr>
        <p:txBody>
          <a:bodyPr wrap="square">
            <a:spAutoFit/>
          </a:bodyPr>
          <a:lstStyle/>
          <a:p>
            <a:r>
              <a:rPr lang="en-US" sz="3000" dirty="0">
                <a:solidFill>
                  <a:schemeClr val="tx1"/>
                </a:solidFill>
              </a:rPr>
              <a:t>It should also include a total project cost that summarizes all of the estimated costs for the project.</a:t>
            </a:r>
          </a:p>
          <a:p>
            <a:endParaRPr lang="en-US" sz="3000" dirty="0">
              <a:solidFill>
                <a:schemeClr val="tx1"/>
              </a:solidFill>
            </a:endParaRPr>
          </a:p>
          <a:p>
            <a:r>
              <a:rPr lang="en-US" sz="3000" dirty="0">
                <a:solidFill>
                  <a:schemeClr val="tx1"/>
                </a:solidFill>
              </a:rPr>
              <a:t>It should be realistic and based on careful estimation, taking into account any potential cost savings or efficiencies that may be available. </a:t>
            </a:r>
          </a:p>
          <a:p>
            <a:endParaRPr lang="en-US" sz="3000" dirty="0">
              <a:solidFill>
                <a:schemeClr val="tx1"/>
              </a:solidFill>
            </a:endParaRPr>
          </a:p>
          <a:p>
            <a:r>
              <a:rPr lang="en-US" sz="3000" dirty="0">
                <a:solidFill>
                  <a:schemeClr val="tx1"/>
                </a:solidFill>
              </a:rPr>
              <a:t>Finally, the budget should align with the scope and objectives of the project.</a:t>
            </a: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16</a:t>
            </a:fld>
            <a:endParaRPr lang="en-US"/>
          </a:p>
        </p:txBody>
      </p:sp>
    </p:spTree>
    <p:extLst>
      <p:ext uri="{BB962C8B-B14F-4D97-AF65-F5344CB8AC3E}">
        <p14:creationId xmlns:p14="http://schemas.microsoft.com/office/powerpoint/2010/main" val="2166661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7409"/>
            <a:ext cx="8229600" cy="881792"/>
          </a:xfrm>
        </p:spPr>
        <p:txBody>
          <a:bodyPr>
            <a:normAutofit/>
          </a:bodyPr>
          <a:lstStyle/>
          <a:p>
            <a:r>
              <a:rPr lang="en-GB" sz="3600" dirty="0">
                <a:latin typeface="Calibri (Headings)"/>
                <a:ea typeface="Tahoma" panose="020B0604030504040204" pitchFamily="34" charset="0"/>
                <a:cs typeface="Tahoma" panose="020B0604030504040204" pitchFamily="34" charset="0"/>
              </a:rPr>
              <a:t>Reference</a:t>
            </a:r>
          </a:p>
        </p:txBody>
      </p:sp>
      <p:sp>
        <p:nvSpPr>
          <p:cNvPr id="9" name="Content Placeholder 6"/>
          <p:cNvSpPr>
            <a:spLocks noGrp="1"/>
          </p:cNvSpPr>
          <p:nvPr>
            <p:ph idx="1"/>
          </p:nvPr>
        </p:nvSpPr>
        <p:spPr>
          <a:xfrm>
            <a:off x="228600" y="1693140"/>
            <a:ext cx="8686799" cy="2136867"/>
          </a:xfrm>
          <a:prstGeom prst="rect">
            <a:avLst/>
          </a:prstGeom>
        </p:spPr>
        <p:txBody>
          <a:bodyPr wrap="square">
            <a:spAutoFit/>
          </a:bodyPr>
          <a:lstStyle/>
          <a:p>
            <a:pPr>
              <a:lnSpc>
                <a:spcPct val="150000"/>
              </a:lnSpc>
            </a:pPr>
            <a:r>
              <a:rPr lang="en-US" sz="2800" dirty="0">
                <a:solidFill>
                  <a:schemeClr val="tx1"/>
                </a:solidFill>
              </a:rPr>
              <a:t>Reference your work using the IEEE referencing style</a:t>
            </a:r>
          </a:p>
          <a:p>
            <a:pPr>
              <a:lnSpc>
                <a:spcPct val="150000"/>
              </a:lnSpc>
            </a:pPr>
            <a:r>
              <a:rPr lang="en-US" sz="2800" dirty="0">
                <a:solidFill>
                  <a:schemeClr val="tx1"/>
                </a:solidFill>
              </a:rPr>
              <a:t>……………………………………………………………………………..</a:t>
            </a:r>
          </a:p>
          <a:p>
            <a:pPr>
              <a:lnSpc>
                <a:spcPct val="150000"/>
              </a:lnSpc>
            </a:pPr>
            <a:r>
              <a:rPr lang="en-US" sz="2800" dirty="0">
                <a:solidFill>
                  <a:schemeClr val="tx1"/>
                </a:solidFill>
              </a:rPr>
              <a:t>……………………………………………………………………………..</a:t>
            </a:r>
            <a:endParaRPr lang="en-US" sz="3000" dirty="0">
              <a:solidFill>
                <a:schemeClr val="tx1"/>
              </a:solidFill>
            </a:endParaRPr>
          </a:p>
        </p:txBody>
      </p:sp>
      <p:sp>
        <p:nvSpPr>
          <p:cNvPr id="7" name="Footer Placeholder 2"/>
          <p:cNvSpPr>
            <a:spLocks noGrp="1"/>
          </p:cNvSpPr>
          <p:nvPr>
            <p:ph type="ftr" sz="quarter" idx="11"/>
          </p:nvPr>
        </p:nvSpPr>
        <p:spPr>
          <a:xfrm>
            <a:off x="457199" y="6492875"/>
            <a:ext cx="4191001" cy="365125"/>
          </a:xfrm>
        </p:spPr>
        <p:txBody>
          <a:bodyPr/>
          <a:lstStyle>
            <a:lvl1pPr algn="r">
              <a:defRPr lang="en-US" sz="1100" smtClean="0">
                <a:effectLst/>
              </a:defRPr>
            </a:lvl1pPr>
          </a:lstStyle>
          <a:p>
            <a:pPr algn="ctr"/>
            <a:r>
              <a:rPr lang="en-US" sz="1400" dirty="0">
                <a:solidFill>
                  <a:schemeClr val="tx1"/>
                </a:solidFill>
              </a:rPr>
              <a:t>Project Work Proposal Guide</a:t>
            </a:r>
          </a:p>
        </p:txBody>
      </p:sp>
      <p:sp>
        <p:nvSpPr>
          <p:cNvPr id="8" name="Date Placeholder 1"/>
          <p:cNvSpPr>
            <a:spLocks noGrp="1"/>
          </p:cNvSpPr>
          <p:nvPr>
            <p:ph type="dt" sz="half" idx="10"/>
          </p:nvPr>
        </p:nvSpPr>
        <p:spPr>
          <a:xfrm>
            <a:off x="5486400" y="6356350"/>
            <a:ext cx="1066800" cy="365125"/>
          </a:xfrm>
        </p:spPr>
        <p:txBody>
          <a:bodyPr/>
          <a:lstStyle/>
          <a:p>
            <a:fld id="{1DBBF326-232E-40F4-94A6-C1AD2B05EA49}" type="datetime1">
              <a:rPr lang="en-US" smtClean="0">
                <a:solidFill>
                  <a:schemeClr val="tx1"/>
                </a:solidFill>
              </a:rPr>
              <a:t>6/20/2024</a:t>
            </a:fld>
            <a:endParaRPr lang="en-US" dirty="0">
              <a:solidFill>
                <a:schemeClr val="tx1"/>
              </a:solidFill>
            </a:endParaRPr>
          </a:p>
        </p:txBody>
      </p:sp>
      <p:sp>
        <p:nvSpPr>
          <p:cNvPr id="4" name="Slide Number Placeholder 3"/>
          <p:cNvSpPr>
            <a:spLocks noGrp="1"/>
          </p:cNvSpPr>
          <p:nvPr>
            <p:ph type="sldNum" sz="quarter" idx="12"/>
          </p:nvPr>
        </p:nvSpPr>
        <p:spPr/>
        <p:txBody>
          <a:bodyPr/>
          <a:lstStyle/>
          <a:p>
            <a:fld id="{FD3DDBF2-094B-4CA4-965C-FB22D307DBD7}" type="slidenum">
              <a:rPr lang="en-US" smtClean="0"/>
              <a:pPr/>
              <a:t>17</a:t>
            </a:fld>
            <a:endParaRPr lang="en-US"/>
          </a:p>
        </p:txBody>
      </p:sp>
    </p:spTree>
    <p:extLst>
      <p:ext uri="{BB962C8B-B14F-4D97-AF65-F5344CB8AC3E}">
        <p14:creationId xmlns:p14="http://schemas.microsoft.com/office/powerpoint/2010/main" val="4196590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33913</TotalTime>
  <Words>771</Words>
  <Application>Microsoft Office PowerPoint</Application>
  <PresentationFormat>On-screen Show (4:3)</PresentationFormat>
  <Paragraphs>145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(Headings)</vt:lpstr>
      <vt:lpstr>Tahoma</vt:lpstr>
      <vt:lpstr>Office Theme</vt:lpstr>
      <vt:lpstr>Project Work Proposal Writing Guide</vt:lpstr>
      <vt:lpstr>Outline</vt:lpstr>
      <vt:lpstr>Outline   (Cont…)</vt:lpstr>
      <vt:lpstr>Background of the study</vt:lpstr>
      <vt:lpstr>Problem Statement</vt:lpstr>
      <vt:lpstr>Objectives</vt:lpstr>
      <vt:lpstr>Scope</vt:lpstr>
      <vt:lpstr>Significance of the Project</vt:lpstr>
      <vt:lpstr>Significance of the Project   (Cont…)</vt:lpstr>
      <vt:lpstr>Literature Review</vt:lpstr>
      <vt:lpstr>Literature Review   (Cont…)</vt:lpstr>
      <vt:lpstr>Methodology</vt:lpstr>
      <vt:lpstr>Gantt Chart</vt:lpstr>
      <vt:lpstr>Gantt Chart   (Cont…)</vt:lpstr>
      <vt:lpstr>Budget</vt:lpstr>
      <vt:lpstr>Budget   (Cont…)</vt:lpstr>
      <vt:lpstr>Reference</vt:lpstr>
    </vt:vector>
  </TitlesOfParts>
  <Company>Toshiba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title</dc:title>
  <dc:creator>Nana Yaw Akuamoah</dc:creator>
  <cp:lastModifiedBy>Admin</cp:lastModifiedBy>
  <cp:revision>1970</cp:revision>
  <cp:lastPrinted>2017-08-05T11:25:33Z</cp:lastPrinted>
  <dcterms:created xsi:type="dcterms:W3CDTF">2011-06-07T13:56:57Z</dcterms:created>
  <dcterms:modified xsi:type="dcterms:W3CDTF">2024-06-20T17:32:42Z</dcterms:modified>
</cp:coreProperties>
</file>